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slideMasters/slideMaster21.xml" ContentType="application/vnd.openxmlformats-officedocument.presentationml.slideMaster+xml"/>
  <Override PartName="/ppt/slides/slide21.xml" ContentType="application/vnd.openxmlformats-officedocument.presentationml.slide+xml"/>
  <Override PartName="/ppt/slideMasters/slideMaster22.xml" ContentType="application/vnd.openxmlformats-officedocument.presentationml.slideMaster+xml"/>
  <Override PartName="/ppt/slides/slide22.xml" ContentType="application/vnd.openxmlformats-officedocument.presentationml.slide+xml"/>
  <Override PartName="/ppt/slideMasters/slideMaster23.xml" ContentType="application/vnd.openxmlformats-officedocument.presentationml.slideMaster+xml"/>
  <Override PartName="/ppt/slides/slide2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</p:sldIdLst>
  <p:notesMasterIdLst>
    <p:notesMasterId r:id="rId25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slide" Target="slides/slide23.xml"/><Relationship Id="rId25" Type="http://schemas.openxmlformats.org/officeDocument/2006/relationships/notesMaster" Target="notesMasters/notesMaster1.xml"/><Relationship Id="rId26" Type="http://schemas.openxmlformats.org/officeDocument/2006/relationships/presProps" Target="presProps.xml"/><Relationship Id="rId27" Type="http://schemas.openxmlformats.org/officeDocument/2006/relationships/viewProps" Target="viewProps.xml"/><Relationship Id="rId28" Type="http://schemas.openxmlformats.org/officeDocument/2006/relationships/theme" Target="theme/theme1.xml"/><Relationship Id="rId29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_rels/notesSlide2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1.xml"/>
		</Relationships>
</file>

<file path=ppt/notesSlides/_rels/notesSlide2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2.xml"/>
		</Relationships>
</file>

<file path=ppt/notesSlides/_rels/notesSlide2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3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hyperlink" Target="file:///Users/willju/Research/ggpaintr/dev/demo/demo.Rmd" TargetMode="Externa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hyperlink" Target="file:///Users/willju/Research/ggpaintr/dev/demo/demo.Rmd" TargetMode="Externa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hyperlink" Target="file:///Users/willju/Research/ggpaintr/dev/demo/demo.Rmd" TargetMode="Externa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hyperlink" Target="file:///Users/willju/Research/ggpaintr/dev/demo/demo.Rmd" TargetMode="Externa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hyperlink" Target="file:///Users/willju/Research/ggpaintr/dev/demo/demo.Rmd" TargetMode="Externa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hyperlink" Target="file:///Users/willju/Research/ggpaintr/dev/demo/demo.Rmd" TargetMode="Externa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hyperlink" Target="file:///Users/willju/Research/ggpaintr/dev/demo/demo.Rmd" TargetMode="Externa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hyperlink" Target="file:///Users/willju/Research/ggpaintr/dev/demo/demo.Rmd" TargetMode="Externa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hyperlink" Target="file:///Users/willju/Research/ggpaintr/dev/demo/demo.Rmd" TargetMode="Externa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hyperlink" Target="file:///Users/willju/Research/ggpaintr/dev/demo/demo.Rmd" TargetMode="Externa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hyperlink" Target="file:///Users/willju/Research/ggpaintr/dev/demo/demo.Rmd" TargetMode="Externa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hyperlink" Target="file:///Users/willju/Research/ggpaintr/dev/demo/demo.Rmd" TargetMode="Externa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hyperlink" Target="file:///Users/willju/Research/ggpaintr/dev/demo/demo.Rmd" TargetMode="Externa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0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hyperlink" Target="file:///Users/willju/Research/ggpaintr/dev/demo/demo.Rmd" TargetMode="Externa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1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hyperlink" Target="file:///Users/willju/Research/ggpaintr/dev/demo/demo.Rmd" TargetMode="Externa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0D9488"/>
          </a:solidFill>
          <a:ln/>
        </p:spPr>
      </p:sp>
      <p:sp>
        <p:nvSpPr>
          <p:cNvPr id="3" name="Text 1"/>
          <p:cNvSpPr/>
          <p:nvPr/>
        </p:nvSpPr>
        <p:spPr>
          <a:xfrm>
            <a:off x="731520" y="118872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400" kern="0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 · ggplot2 · Shiny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731520" y="1554480"/>
            <a:ext cx="77724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2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ggpaintr</a:t>
            </a:r>
            <a:endParaRPr lang="en-US" sz="6200" dirty="0"/>
          </a:p>
        </p:txBody>
      </p:sp>
      <p:sp>
        <p:nvSpPr>
          <p:cNvPr id="5" name="Text 3"/>
          <p:cNvSpPr/>
          <p:nvPr/>
        </p:nvSpPr>
        <p:spPr>
          <a:xfrm>
            <a:off x="731520" y="2606040"/>
            <a:ext cx="7772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i="1" dirty="0">
                <a:solidFill>
                  <a:srgbClr val="CBD5E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 formula string becomes a Shiny app.</a:t>
            </a:r>
            <a:endParaRPr lang="en-US" sz="2200" dirty="0"/>
          </a:p>
        </p:txBody>
      </p:sp>
      <p:sp>
        <p:nvSpPr>
          <p:cNvPr id="6" name="Shape 4"/>
          <p:cNvSpPr/>
          <p:nvPr/>
        </p:nvSpPr>
        <p:spPr>
          <a:xfrm>
            <a:off x="731520" y="3246120"/>
            <a:ext cx="1097280" cy="0"/>
          </a:xfrm>
          <a:prstGeom prst="line">
            <a:avLst/>
          </a:prstGeom>
          <a:noFill/>
          <a:ln w="31750">
            <a:solidFill>
              <a:srgbClr val="0D9488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31520" y="3429000"/>
            <a:ext cx="73152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Will Ju</a:t>
            </a:r>
            <a:endParaRPr lang="en-US" sz="1600" dirty="0"/>
          </a:p>
          <a:p>
            <a:pPr indent="0" marL="0">
              <a:buNone/>
            </a:pPr>
            <a:r>
              <a:rPr lang="en-US" sz="13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Showcase Demo</a:t>
            </a:r>
            <a:endParaRPr lang="en-US" sz="16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200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ABOUT THIS DEMO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457200" y="59436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F172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What is ggpaintr?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457200" y="1298448"/>
            <a:ext cx="548640" cy="0"/>
          </a:xfrm>
          <a:prstGeom prst="line">
            <a:avLst/>
          </a:prstGeom>
          <a:noFill/>
          <a:ln w="31750">
            <a:solidFill>
              <a:srgbClr val="0D9488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457200" y="1554480"/>
            <a:ext cx="5760720" cy="3017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6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Turns a ggplot-like formula string into a live Shiny app.</a:t>
            </a:r>
            <a:endParaRPr lang="en-US" sz="16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Placeholder tokens inside the formula become widgets automatically.</a:t>
            </a:r>
            <a:endParaRPr lang="en-US" sz="16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Five placeholders: var · text · num · expr · upload.</a:t>
            </a:r>
            <a:endParaRPr lang="en-US" sz="16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Generated code pane mirrors user choices in real time.</a:t>
            </a:r>
            <a:endParaRPr lang="en-US" sz="16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Run one example at a time — close the app before the next.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6492240" y="1554480"/>
            <a:ext cx="2194560" cy="530352"/>
          </a:xfrm>
          <a:prstGeom prst="rect">
            <a:avLst/>
          </a:prstGeom>
          <a:solidFill>
            <a:srgbClr val="F8FAFC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6492240" y="1554480"/>
            <a:ext cx="73152" cy="530352"/>
          </a:xfrm>
          <a:prstGeom prst="rect">
            <a:avLst/>
          </a:prstGeom>
          <a:solidFill>
            <a:srgbClr val="0D9488"/>
          </a:solidFill>
          <a:ln/>
        </p:spPr>
      </p:sp>
      <p:sp>
        <p:nvSpPr>
          <p:cNvPr id="8" name="Text 6"/>
          <p:cNvSpPr/>
          <p:nvPr/>
        </p:nvSpPr>
        <p:spPr>
          <a:xfrm>
            <a:off x="6656832" y="1600200"/>
            <a:ext cx="1965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F172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var</a:t>
            </a:r>
            <a:endParaRPr lang="en-US" sz="1400" dirty="0"/>
          </a:p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column picker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6492240" y="2157984"/>
            <a:ext cx="2194560" cy="530352"/>
          </a:xfrm>
          <a:prstGeom prst="rect">
            <a:avLst/>
          </a:prstGeom>
          <a:solidFill>
            <a:srgbClr val="F8FAFC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6492240" y="2157984"/>
            <a:ext cx="73152" cy="530352"/>
          </a:xfrm>
          <a:prstGeom prst="rect">
            <a:avLst/>
          </a:prstGeom>
          <a:solidFill>
            <a:srgbClr val="0D9488"/>
          </a:solidFill>
          <a:ln/>
        </p:spPr>
      </p:sp>
      <p:sp>
        <p:nvSpPr>
          <p:cNvPr id="11" name="Text 9"/>
          <p:cNvSpPr/>
          <p:nvPr/>
        </p:nvSpPr>
        <p:spPr>
          <a:xfrm>
            <a:off x="6656832" y="2203704"/>
            <a:ext cx="1965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F172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text</a:t>
            </a:r>
            <a:endParaRPr lang="en-US" sz="1400" dirty="0"/>
          </a:p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string input</a:t>
            </a:r>
            <a:endParaRPr lang="en-US" sz="1400" dirty="0"/>
          </a:p>
        </p:txBody>
      </p:sp>
      <p:sp>
        <p:nvSpPr>
          <p:cNvPr id="12" name="Shape 10"/>
          <p:cNvSpPr/>
          <p:nvPr/>
        </p:nvSpPr>
        <p:spPr>
          <a:xfrm>
            <a:off x="6492240" y="2761488"/>
            <a:ext cx="2194560" cy="530352"/>
          </a:xfrm>
          <a:prstGeom prst="rect">
            <a:avLst/>
          </a:prstGeom>
          <a:solidFill>
            <a:srgbClr val="F8FAFC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6492240" y="2761488"/>
            <a:ext cx="73152" cy="530352"/>
          </a:xfrm>
          <a:prstGeom prst="rect">
            <a:avLst/>
          </a:prstGeom>
          <a:solidFill>
            <a:srgbClr val="0D9488"/>
          </a:solidFill>
          <a:ln/>
        </p:spPr>
      </p:sp>
      <p:sp>
        <p:nvSpPr>
          <p:cNvPr id="14" name="Text 12"/>
          <p:cNvSpPr/>
          <p:nvPr/>
        </p:nvSpPr>
        <p:spPr>
          <a:xfrm>
            <a:off x="6656832" y="2807208"/>
            <a:ext cx="1965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F172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num</a:t>
            </a:r>
            <a:endParaRPr lang="en-US" sz="1400" dirty="0"/>
          </a:p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numeric input</a:t>
            </a:r>
            <a:endParaRPr lang="en-US" sz="1400" dirty="0"/>
          </a:p>
        </p:txBody>
      </p:sp>
      <p:sp>
        <p:nvSpPr>
          <p:cNvPr id="15" name="Shape 13"/>
          <p:cNvSpPr/>
          <p:nvPr/>
        </p:nvSpPr>
        <p:spPr>
          <a:xfrm>
            <a:off x="6492240" y="3364992"/>
            <a:ext cx="2194560" cy="530352"/>
          </a:xfrm>
          <a:prstGeom prst="rect">
            <a:avLst/>
          </a:prstGeom>
          <a:solidFill>
            <a:srgbClr val="F8FAFC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6492240" y="3364992"/>
            <a:ext cx="73152" cy="530352"/>
          </a:xfrm>
          <a:prstGeom prst="rect">
            <a:avLst/>
          </a:prstGeom>
          <a:solidFill>
            <a:srgbClr val="0D9488"/>
          </a:solidFill>
          <a:ln/>
        </p:spPr>
      </p:sp>
      <p:sp>
        <p:nvSpPr>
          <p:cNvPr id="17" name="Text 15"/>
          <p:cNvSpPr/>
          <p:nvPr/>
        </p:nvSpPr>
        <p:spPr>
          <a:xfrm>
            <a:off x="6656832" y="3410712"/>
            <a:ext cx="1965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F172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expr</a:t>
            </a:r>
            <a:endParaRPr lang="en-US" sz="1400" dirty="0"/>
          </a:p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parsed R expression</a:t>
            </a:r>
            <a:endParaRPr lang="en-US" sz="1400" dirty="0"/>
          </a:p>
        </p:txBody>
      </p:sp>
      <p:sp>
        <p:nvSpPr>
          <p:cNvPr id="18" name="Shape 16"/>
          <p:cNvSpPr/>
          <p:nvPr/>
        </p:nvSpPr>
        <p:spPr>
          <a:xfrm>
            <a:off x="6492240" y="3968496"/>
            <a:ext cx="2194560" cy="530352"/>
          </a:xfrm>
          <a:prstGeom prst="rect">
            <a:avLst/>
          </a:prstGeom>
          <a:solidFill>
            <a:srgbClr val="F8FAFC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6492240" y="3968496"/>
            <a:ext cx="73152" cy="530352"/>
          </a:xfrm>
          <a:prstGeom prst="rect">
            <a:avLst/>
          </a:prstGeom>
          <a:solidFill>
            <a:srgbClr val="0D9488"/>
          </a:solidFill>
          <a:ln/>
        </p:spPr>
      </p:sp>
      <p:sp>
        <p:nvSpPr>
          <p:cNvPr id="20" name="Text 18"/>
          <p:cNvSpPr/>
          <p:nvPr/>
        </p:nvSpPr>
        <p:spPr>
          <a:xfrm>
            <a:off x="6656832" y="4014216"/>
            <a:ext cx="1965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F172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upload</a:t>
            </a:r>
            <a:endParaRPr lang="en-US" sz="1400" dirty="0"/>
          </a:p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file input</a:t>
            </a:r>
            <a:endParaRPr lang="en-US" sz="1400" dirty="0"/>
          </a:p>
        </p:txBody>
      </p:sp>
      <p:sp>
        <p:nvSpPr>
          <p:cNvPr id="21" name="Shape 19"/>
          <p:cNvSpPr/>
          <p:nvPr/>
        </p:nvSpPr>
        <p:spPr>
          <a:xfrm>
            <a:off x="457200" y="4732020"/>
            <a:ext cx="8229600" cy="0"/>
          </a:xfrm>
          <a:prstGeom prst="line">
            <a:avLst/>
          </a:prstGeom>
          <a:noFill/>
          <a:ln w="9525">
            <a:solidFill>
              <a:srgbClr val="E2E8F0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457200" y="477774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About · overview of placeholders</a:t>
            </a:r>
            <a:endParaRPr lang="en-US" sz="900" dirty="0"/>
          </a:p>
        </p:txBody>
      </p:sp>
      <p:sp>
        <p:nvSpPr>
          <p:cNvPr id="23" name="Text 21"/>
          <p:cNvSpPr/>
          <p:nvPr/>
        </p:nvSpPr>
        <p:spPr>
          <a:xfrm>
            <a:off x="5029200" y="477774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ggpaintr showcase · Will Ju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0D9488"/>
          </a:solidFill>
          <a:ln/>
        </p:spPr>
      </p:sp>
      <p:sp>
        <p:nvSpPr>
          <p:cNvPr id="3" name="Text 1"/>
          <p:cNvSpPr/>
          <p:nvPr/>
        </p:nvSpPr>
        <p:spPr>
          <a:xfrm>
            <a:off x="731520" y="164592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spc="500" kern="0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 0</a:t>
            </a:r>
            <a:endParaRPr lang="en-US" sz="1400" dirty="0"/>
          </a:p>
        </p:txBody>
      </p:sp>
      <p:sp>
        <p:nvSpPr>
          <p:cNvPr id="4" name="Text 2"/>
          <p:cNvSpPr/>
          <p:nvPr/>
        </p:nvSpPr>
        <p:spPr>
          <a:xfrm>
            <a:off x="731520" y="2011680"/>
            <a:ext cx="77724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8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Motivation: building Shiny + ggplot by hand</a:t>
            </a:r>
            <a:endParaRPr lang="en-US" sz="3800" dirty="0"/>
          </a:p>
        </p:txBody>
      </p:sp>
      <p:sp>
        <p:nvSpPr>
          <p:cNvPr id="5" name="Text 3"/>
          <p:cNvSpPr/>
          <p:nvPr/>
        </p:nvSpPr>
        <p:spPr>
          <a:xfrm>
            <a:off x="731520" y="3200400"/>
            <a:ext cx="77724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i="1" dirty="0">
                <a:solidFill>
                  <a:srgbClr val="94A3B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How far can three selectInputs take us before the wiring gets painful?</a:t>
            </a:r>
            <a:endParaRPr lang="en-US" sz="18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200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 0 · V1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457200" y="59436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F172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 simple Shiny app for iris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457200" y="1298448"/>
            <a:ext cx="548640" cy="0"/>
          </a:xfrm>
          <a:prstGeom prst="line">
            <a:avLst/>
          </a:prstGeom>
          <a:noFill/>
          <a:ln w="31750">
            <a:solidFill>
              <a:srgbClr val="0D9488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457200" y="1554480"/>
            <a:ext cx="5486400" cy="3017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Three selectInputs bound to x, y, color — all from names(iris).</a:t>
            </a:r>
            <a:endParaRPr lang="en-US" sz="16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Plot re-renders on every change; no button.</a:t>
            </a:r>
            <a:endParaRPr lang="en-US" sz="16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ggplot uses .data[[input$x]] to read columns by string.</a:t>
            </a:r>
            <a:endParaRPr lang="en-US" sz="16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Works, but every new control means new UI + new server wiring.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5943600" y="914400"/>
            <a:ext cx="2743200" cy="1188720"/>
          </a:xfrm>
          <a:prstGeom prst="rect">
            <a:avLst/>
          </a:prstGeom>
          <a:solidFill>
            <a:srgbClr val="F8FAFC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5943600" y="914400"/>
            <a:ext cx="73152" cy="1188720"/>
          </a:xfrm>
          <a:prstGeom prst="rect">
            <a:avLst/>
          </a:prstGeom>
          <a:solidFill>
            <a:srgbClr val="0D9488"/>
          </a:solidFill>
          <a:ln/>
        </p:spPr>
      </p:sp>
      <p:sp>
        <p:nvSpPr>
          <p:cNvPr id="8" name="Text 6"/>
          <p:cNvSpPr/>
          <p:nvPr/>
        </p:nvSpPr>
        <p:spPr>
          <a:xfrm>
            <a:off x="6126480" y="1005840"/>
            <a:ext cx="24688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200" kern="0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SOURCE CHUNK</a:t>
            </a:r>
            <a:endParaRPr lang="en-US" sz="900" dirty="0"/>
          </a:p>
        </p:txBody>
      </p:sp>
      <p:sp>
        <p:nvSpPr>
          <p:cNvPr id="9" name="Text 7"/>
          <p:cNvSpPr/>
          <p:nvPr/>
        </p:nvSpPr>
        <p:spPr>
          <a:xfrm>
            <a:off x="6126480" y="1234440"/>
            <a:ext cx="24688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F172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simple-iris-1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6126480" y="1600200"/>
            <a:ext cx="24688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Line </a:t>
            </a:r>
            <a:pPr indent="0" marL="0">
              <a:buNone/>
            </a:pPr>
            <a:r>
              <a:rPr lang="en-US" sz="1100" b="1" dirty="0">
                <a:solidFill>
                  <a:srgbClr val="1E29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43</a:t>
            </a:r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·  </a:t>
            </a:r>
            <a:pPr indent="0" marL="0">
              <a:buNone/>
            </a:pPr>
            <a:r>
              <a:rPr lang="en-US" sz="1000" b="1" u="sng" dirty="0">
                <a:solidFill>
                  <a:srgbClr val="0F766E"/>
                </a:solidFill>
                <a:latin typeface="Calibri" pitchFamily="34" charset="0"/>
                <a:ea typeface="Calibri" pitchFamily="34" charset="-122"/>
                <a:cs typeface="Calibri" pitchFamily="34" charset="-120"/>
                <a:hlinkClick r:id="rId1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open demo.Rmd ›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457200" y="4732020"/>
            <a:ext cx="8229600" cy="0"/>
          </a:xfrm>
          <a:prstGeom prst="line">
            <a:avLst/>
          </a:prstGeom>
          <a:noFill/>
          <a:ln w="9525">
            <a:solidFill>
              <a:srgbClr val="E2E8F0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457200" y="477774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 0 · manual Shiny — version 1</a:t>
            </a:r>
            <a:endParaRPr lang="en-US" sz="900" dirty="0"/>
          </a:p>
        </p:txBody>
      </p:sp>
      <p:sp>
        <p:nvSpPr>
          <p:cNvPr id="13" name="Text 11"/>
          <p:cNvSpPr/>
          <p:nvPr/>
        </p:nvSpPr>
        <p:spPr>
          <a:xfrm>
            <a:off x="5029200" y="477774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ggpaintr showcase · Will Ju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200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 0 · V2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457200" y="59436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F172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Add a draw button and a plot title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457200" y="1298448"/>
            <a:ext cx="548640" cy="0"/>
          </a:xfrm>
          <a:prstGeom prst="line">
            <a:avLst/>
          </a:prstGeom>
          <a:noFill/>
          <a:ln w="31750">
            <a:solidFill>
              <a:srgbClr val="0D9488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457200" y="1554480"/>
            <a:ext cx="5486400" cy="3017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textInput for the title, actionButton to gate rendering.</a:t>
            </a:r>
            <a:endParaRPr lang="en-US" sz="16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eventReactive(input$draw) bundles state; ignoreNULL = FALSE for first paint.</a:t>
            </a:r>
            <a:endParaRPr lang="en-US" sz="16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labs(title = p$title) threaded through the reactive payload.</a:t>
            </a:r>
            <a:endParaRPr lang="en-US" sz="16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Each new widget now touches: UI, reactive list, and renderPlot body.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5943600" y="914400"/>
            <a:ext cx="2743200" cy="1188720"/>
          </a:xfrm>
          <a:prstGeom prst="rect">
            <a:avLst/>
          </a:prstGeom>
          <a:solidFill>
            <a:srgbClr val="F8FAFC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5943600" y="914400"/>
            <a:ext cx="73152" cy="1188720"/>
          </a:xfrm>
          <a:prstGeom prst="rect">
            <a:avLst/>
          </a:prstGeom>
          <a:solidFill>
            <a:srgbClr val="0D9488"/>
          </a:solidFill>
          <a:ln/>
        </p:spPr>
      </p:sp>
      <p:sp>
        <p:nvSpPr>
          <p:cNvPr id="8" name="Text 6"/>
          <p:cNvSpPr/>
          <p:nvPr/>
        </p:nvSpPr>
        <p:spPr>
          <a:xfrm>
            <a:off x="6126480" y="1005840"/>
            <a:ext cx="24688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200" kern="0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SOURCE CHUNK</a:t>
            </a:r>
            <a:endParaRPr lang="en-US" sz="900" dirty="0"/>
          </a:p>
        </p:txBody>
      </p:sp>
      <p:sp>
        <p:nvSpPr>
          <p:cNvPr id="9" name="Text 7"/>
          <p:cNvSpPr/>
          <p:nvPr/>
        </p:nvSpPr>
        <p:spPr>
          <a:xfrm>
            <a:off x="6126480" y="1234440"/>
            <a:ext cx="24688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F172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simple-iris-2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6126480" y="1600200"/>
            <a:ext cx="24688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Line </a:t>
            </a:r>
            <a:pPr indent="0" marL="0">
              <a:buNone/>
            </a:pPr>
            <a:r>
              <a:rPr lang="en-US" sz="1100" b="1" dirty="0">
                <a:solidFill>
                  <a:srgbClr val="1E29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76</a:t>
            </a:r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·  </a:t>
            </a:r>
            <a:pPr indent="0" marL="0">
              <a:buNone/>
            </a:pPr>
            <a:r>
              <a:rPr lang="en-US" sz="1000" b="1" u="sng" dirty="0">
                <a:solidFill>
                  <a:srgbClr val="0F766E"/>
                </a:solidFill>
                <a:latin typeface="Calibri" pitchFamily="34" charset="0"/>
                <a:ea typeface="Calibri" pitchFamily="34" charset="-122"/>
                <a:cs typeface="Calibri" pitchFamily="34" charset="-120"/>
                <a:hlinkClick r:id="rId1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open demo.Rmd ›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457200" y="4732020"/>
            <a:ext cx="8229600" cy="0"/>
          </a:xfrm>
          <a:prstGeom prst="line">
            <a:avLst/>
          </a:prstGeom>
          <a:noFill/>
          <a:ln w="9525">
            <a:solidFill>
              <a:srgbClr val="E2E8F0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457200" y="477774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 0 · manual Shiny — version 2</a:t>
            </a:r>
            <a:endParaRPr lang="en-US" sz="900" dirty="0"/>
          </a:p>
        </p:txBody>
      </p:sp>
      <p:sp>
        <p:nvSpPr>
          <p:cNvPr id="13" name="Text 11"/>
          <p:cNvSpPr/>
          <p:nvPr/>
        </p:nvSpPr>
        <p:spPr>
          <a:xfrm>
            <a:off x="5029200" y="477774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ggpaintr showcase · Will Ju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200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 0 · V3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457200" y="59436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F172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Add facet_wrap and geom_smooth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457200" y="1298448"/>
            <a:ext cx="548640" cy="0"/>
          </a:xfrm>
          <a:prstGeom prst="line">
            <a:avLst/>
          </a:prstGeom>
          <a:noFill/>
          <a:ln w="31750">
            <a:solidFill>
              <a:srgbClr val="0D9488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457200" y="1554480"/>
            <a:ext cx="5486400" cy="3017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Two more selectInputs: facet column and smoothing method.</a:t>
            </a:r>
            <a:endParaRPr lang="en-US" sz="16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Empty-string sentinels with nzchar() gate optional layers.</a:t>
            </a:r>
            <a:endParaRPr lang="en-US" sz="16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renderPlot body now branches on inputs — conditional layer logic.</a:t>
            </a:r>
            <a:endParaRPr lang="en-US" sz="16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Scaling pain: error handling, code visibility, file splits still ahead.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5943600" y="914400"/>
            <a:ext cx="2743200" cy="1188720"/>
          </a:xfrm>
          <a:prstGeom prst="rect">
            <a:avLst/>
          </a:prstGeom>
          <a:solidFill>
            <a:srgbClr val="F8FAFC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5943600" y="914400"/>
            <a:ext cx="73152" cy="1188720"/>
          </a:xfrm>
          <a:prstGeom prst="rect">
            <a:avLst/>
          </a:prstGeom>
          <a:solidFill>
            <a:srgbClr val="0D9488"/>
          </a:solidFill>
          <a:ln/>
        </p:spPr>
      </p:sp>
      <p:sp>
        <p:nvSpPr>
          <p:cNvPr id="8" name="Text 6"/>
          <p:cNvSpPr/>
          <p:nvPr/>
        </p:nvSpPr>
        <p:spPr>
          <a:xfrm>
            <a:off x="6126480" y="1005840"/>
            <a:ext cx="24688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200" kern="0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SOURCE CHUNK</a:t>
            </a:r>
            <a:endParaRPr lang="en-US" sz="900" dirty="0"/>
          </a:p>
        </p:txBody>
      </p:sp>
      <p:sp>
        <p:nvSpPr>
          <p:cNvPr id="9" name="Text 7"/>
          <p:cNvSpPr/>
          <p:nvPr/>
        </p:nvSpPr>
        <p:spPr>
          <a:xfrm>
            <a:off x="6126480" y="1234440"/>
            <a:ext cx="24688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F172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simple-iris-3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6126480" y="1600200"/>
            <a:ext cx="24688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Line </a:t>
            </a:r>
            <a:pPr indent="0" marL="0">
              <a:buNone/>
            </a:pPr>
            <a:r>
              <a:rPr lang="en-US" sz="1100" b="1" dirty="0">
                <a:solidFill>
                  <a:srgbClr val="1E29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121</a:t>
            </a:r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·  </a:t>
            </a:r>
            <a:pPr indent="0" marL="0">
              <a:buNone/>
            </a:pPr>
            <a:r>
              <a:rPr lang="en-US" sz="1000" b="1" u="sng" dirty="0">
                <a:solidFill>
                  <a:srgbClr val="0F766E"/>
                </a:solidFill>
                <a:latin typeface="Calibri" pitchFamily="34" charset="0"/>
                <a:ea typeface="Calibri" pitchFamily="34" charset="-122"/>
                <a:cs typeface="Calibri" pitchFamily="34" charset="-120"/>
                <a:hlinkClick r:id="rId1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open demo.Rmd ›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457200" y="4732020"/>
            <a:ext cx="8229600" cy="0"/>
          </a:xfrm>
          <a:prstGeom prst="line">
            <a:avLst/>
          </a:prstGeom>
          <a:noFill/>
          <a:ln w="9525">
            <a:solidFill>
              <a:srgbClr val="E2E8F0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457200" y="477774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 0 · manual Shiny — version 3</a:t>
            </a:r>
            <a:endParaRPr lang="en-US" sz="900" dirty="0"/>
          </a:p>
        </p:txBody>
      </p:sp>
      <p:sp>
        <p:nvSpPr>
          <p:cNvPr id="13" name="Text 11"/>
          <p:cNvSpPr/>
          <p:nvPr/>
        </p:nvSpPr>
        <p:spPr>
          <a:xfrm>
            <a:off x="5029200" y="477774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ggpaintr showcase · Will Ju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200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 0 · TAKEAWAY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457200" y="59436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F172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Where hand-rolled Shiny starts to hurt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457200" y="1298448"/>
            <a:ext cx="548640" cy="0"/>
          </a:xfrm>
          <a:prstGeom prst="line">
            <a:avLst/>
          </a:prstGeom>
          <a:noFill/>
          <a:ln w="31750">
            <a:solidFill>
              <a:srgbClr val="0D9488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457200" y="1554480"/>
            <a:ext cx="4069080" cy="1280160"/>
          </a:xfrm>
          <a:prstGeom prst="rect">
            <a:avLst/>
          </a:prstGeom>
          <a:solidFill>
            <a:srgbClr val="F8FAFC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457200" y="1554480"/>
            <a:ext cx="73152" cy="1280160"/>
          </a:xfrm>
          <a:prstGeom prst="rect">
            <a:avLst/>
          </a:prstGeom>
          <a:solidFill>
            <a:srgbClr val="F59E0B"/>
          </a:solidFill>
          <a:ln/>
        </p:spPr>
      </p:sp>
      <p:sp>
        <p:nvSpPr>
          <p:cNvPr id="7" name="Text 5"/>
          <p:cNvSpPr/>
          <p:nvPr/>
        </p:nvSpPr>
        <p:spPr>
          <a:xfrm>
            <a:off x="685800" y="1691640"/>
            <a:ext cx="3749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F172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More controls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685800" y="2057400"/>
            <a:ext cx="37490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Each widget edits UI + reactive + render — three places.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4663440" y="1554480"/>
            <a:ext cx="4069080" cy="1280160"/>
          </a:xfrm>
          <a:prstGeom prst="rect">
            <a:avLst/>
          </a:prstGeom>
          <a:solidFill>
            <a:srgbClr val="F8FAFC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4663440" y="1554480"/>
            <a:ext cx="73152" cy="1280160"/>
          </a:xfrm>
          <a:prstGeom prst="rect">
            <a:avLst/>
          </a:prstGeom>
          <a:solidFill>
            <a:srgbClr val="F59E0B"/>
          </a:solidFill>
          <a:ln/>
        </p:spPr>
      </p:sp>
      <p:sp>
        <p:nvSpPr>
          <p:cNvPr id="11" name="Text 9"/>
          <p:cNvSpPr/>
          <p:nvPr/>
        </p:nvSpPr>
        <p:spPr>
          <a:xfrm>
            <a:off x="4892040" y="1691640"/>
            <a:ext cx="3749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F172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Error messages</a:t>
            </a:r>
            <a:endParaRPr lang="en-US" sz="1800" dirty="0"/>
          </a:p>
        </p:txBody>
      </p:sp>
      <p:sp>
        <p:nvSpPr>
          <p:cNvPr id="12" name="Text 10"/>
          <p:cNvSpPr/>
          <p:nvPr/>
        </p:nvSpPr>
        <p:spPr>
          <a:xfrm>
            <a:off x="4892040" y="2057400"/>
            <a:ext cx="37490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Bad inputs crash the app or render silently empty.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457200" y="2971800"/>
            <a:ext cx="4069080" cy="1280160"/>
          </a:xfrm>
          <a:prstGeom prst="rect">
            <a:avLst/>
          </a:prstGeom>
          <a:solidFill>
            <a:srgbClr val="F8FAFC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457200" y="2971800"/>
            <a:ext cx="73152" cy="1280160"/>
          </a:xfrm>
          <a:prstGeom prst="rect">
            <a:avLst/>
          </a:prstGeom>
          <a:solidFill>
            <a:srgbClr val="F59E0B"/>
          </a:solidFill>
          <a:ln/>
        </p:spPr>
      </p:sp>
      <p:sp>
        <p:nvSpPr>
          <p:cNvPr id="15" name="Text 13"/>
          <p:cNvSpPr/>
          <p:nvPr/>
        </p:nvSpPr>
        <p:spPr>
          <a:xfrm>
            <a:off x="685800" y="3108960"/>
            <a:ext cx="3749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F172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Code visibility</a:t>
            </a:r>
            <a:endParaRPr lang="en-US" sz="1800" dirty="0"/>
          </a:p>
        </p:txBody>
      </p:sp>
      <p:sp>
        <p:nvSpPr>
          <p:cNvPr id="16" name="Text 14"/>
          <p:cNvSpPr/>
          <p:nvPr/>
        </p:nvSpPr>
        <p:spPr>
          <a:xfrm>
            <a:off x="685800" y="3474720"/>
            <a:ext cx="37490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Users see the plot but not the code that made it.</a:t>
            </a:r>
            <a:endParaRPr lang="en-US" sz="1300" dirty="0"/>
          </a:p>
        </p:txBody>
      </p:sp>
      <p:sp>
        <p:nvSpPr>
          <p:cNvPr id="17" name="Shape 15"/>
          <p:cNvSpPr/>
          <p:nvPr/>
        </p:nvSpPr>
        <p:spPr>
          <a:xfrm>
            <a:off x="4663440" y="2971800"/>
            <a:ext cx="4069080" cy="1280160"/>
          </a:xfrm>
          <a:prstGeom prst="rect">
            <a:avLst/>
          </a:prstGeom>
          <a:solidFill>
            <a:srgbClr val="F8FAFC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4663440" y="2971800"/>
            <a:ext cx="73152" cy="1280160"/>
          </a:xfrm>
          <a:prstGeom prst="rect">
            <a:avLst/>
          </a:prstGeom>
          <a:solidFill>
            <a:srgbClr val="F59E0B"/>
          </a:solidFill>
          <a:ln/>
        </p:spPr>
      </p:sp>
      <p:sp>
        <p:nvSpPr>
          <p:cNvPr id="19" name="Text 17"/>
          <p:cNvSpPr/>
          <p:nvPr/>
        </p:nvSpPr>
        <p:spPr>
          <a:xfrm>
            <a:off x="4892040" y="3108960"/>
            <a:ext cx="3749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F172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File organisation</a:t>
            </a:r>
            <a:endParaRPr lang="en-US" sz="1800" dirty="0"/>
          </a:p>
        </p:txBody>
      </p:sp>
      <p:sp>
        <p:nvSpPr>
          <p:cNvPr id="20" name="Text 18"/>
          <p:cNvSpPr/>
          <p:nvPr/>
        </p:nvSpPr>
        <p:spPr>
          <a:xfrm>
            <a:off x="4892040" y="3474720"/>
            <a:ext cx="37490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ui.R / server.R split is only a matter of time.</a:t>
            </a:r>
            <a:endParaRPr lang="en-US" sz="1300" dirty="0"/>
          </a:p>
        </p:txBody>
      </p:sp>
      <p:sp>
        <p:nvSpPr>
          <p:cNvPr id="21" name="Shape 19"/>
          <p:cNvSpPr/>
          <p:nvPr/>
        </p:nvSpPr>
        <p:spPr>
          <a:xfrm>
            <a:off x="457200" y="4732020"/>
            <a:ext cx="8229600" cy="0"/>
          </a:xfrm>
          <a:prstGeom prst="line">
            <a:avLst/>
          </a:prstGeom>
          <a:noFill/>
          <a:ln w="9525">
            <a:solidFill>
              <a:srgbClr val="E2E8F0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457200" y="477774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 0 · why we want a higher-level abstraction</a:t>
            </a:r>
            <a:endParaRPr lang="en-US" sz="900" dirty="0"/>
          </a:p>
        </p:txBody>
      </p:sp>
      <p:sp>
        <p:nvSpPr>
          <p:cNvPr id="23" name="Text 21"/>
          <p:cNvSpPr/>
          <p:nvPr/>
        </p:nvSpPr>
        <p:spPr>
          <a:xfrm>
            <a:off x="5029200" y="477774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ggpaintr showcase · Will Ju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200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 0 · ENTER ggpaintr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457200" y="59436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F172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Three versions collapse into one formula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457200" y="1298448"/>
            <a:ext cx="548640" cy="0"/>
          </a:xfrm>
          <a:prstGeom prst="line">
            <a:avLst/>
          </a:prstGeom>
          <a:noFill/>
          <a:ln w="31750">
            <a:solidFill>
              <a:srgbClr val="0D9488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457200" y="1554480"/>
            <a:ext cx="548640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6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Same capabilities — x / y / color / smooth / facet / title.</a:t>
            </a:r>
            <a:endParaRPr lang="en-US" sz="16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Placeholders var, text, expr mark inputs; widgets are generated.</a:t>
            </a:r>
            <a:endParaRPr lang="en-US" sz="16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ptr_app() ships the draw button, error pane, and code pane for free.</a:t>
            </a:r>
            <a:endParaRPr lang="en-US" sz="16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ui.R, no server.R, no eventReactive plumbing.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457200" y="3520440"/>
            <a:ext cx="5486400" cy="1143000"/>
          </a:xfrm>
          <a:prstGeom prst="rect">
            <a:avLst/>
          </a:prstGeom>
          <a:solidFill>
            <a:srgbClr val="F1F5F9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94360" y="3611880"/>
            <a:ext cx="521208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1E29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ptr_app("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1E29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ggplot(data = iris, aes(x = var, y = var, color = var)) +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1E29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geom_point() +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1E29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geom_smooth(method = text) +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1E29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facet_wrap(expr) +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1E29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labs(title = text)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1E29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")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5943600" y="914400"/>
            <a:ext cx="2743200" cy="1188720"/>
          </a:xfrm>
          <a:prstGeom prst="rect">
            <a:avLst/>
          </a:prstGeom>
          <a:solidFill>
            <a:srgbClr val="F8FAFC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5943600" y="914400"/>
            <a:ext cx="73152" cy="1188720"/>
          </a:xfrm>
          <a:prstGeom prst="rect">
            <a:avLst/>
          </a:prstGeom>
          <a:solidFill>
            <a:srgbClr val="0D9488"/>
          </a:solidFill>
          <a:ln/>
        </p:spPr>
      </p:sp>
      <p:sp>
        <p:nvSpPr>
          <p:cNvPr id="10" name="Text 8"/>
          <p:cNvSpPr/>
          <p:nvPr/>
        </p:nvSpPr>
        <p:spPr>
          <a:xfrm>
            <a:off x="6126480" y="1005840"/>
            <a:ext cx="24688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200" kern="0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SOURCE CHUNK</a:t>
            </a:r>
            <a:endParaRPr lang="en-US" sz="900" dirty="0"/>
          </a:p>
        </p:txBody>
      </p:sp>
      <p:sp>
        <p:nvSpPr>
          <p:cNvPr id="11" name="Text 9"/>
          <p:cNvSpPr/>
          <p:nvPr/>
        </p:nvSpPr>
        <p:spPr>
          <a:xfrm>
            <a:off x="6126480" y="1234440"/>
            <a:ext cx="24688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F172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simple-iris-ggpaintr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6126480" y="1600200"/>
            <a:ext cx="24688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Line </a:t>
            </a:r>
            <a:pPr indent="0" marL="0">
              <a:buNone/>
            </a:pPr>
            <a:r>
              <a:rPr lang="en-US" sz="1100" b="1" dirty="0">
                <a:solidFill>
                  <a:srgbClr val="1E29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183</a:t>
            </a:r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·  </a:t>
            </a:r>
            <a:pPr indent="0" marL="0">
              <a:buNone/>
            </a:pPr>
            <a:r>
              <a:rPr lang="en-US" sz="1000" b="1" u="sng" dirty="0">
                <a:solidFill>
                  <a:srgbClr val="0F766E"/>
                </a:solidFill>
                <a:latin typeface="Calibri" pitchFamily="34" charset="0"/>
                <a:ea typeface="Calibri" pitchFamily="34" charset="-122"/>
                <a:cs typeface="Calibri" pitchFamily="34" charset="-120"/>
                <a:hlinkClick r:id="rId1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open demo.Rmd ›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457200" y="4732020"/>
            <a:ext cx="8229600" cy="0"/>
          </a:xfrm>
          <a:prstGeom prst="line">
            <a:avLst/>
          </a:prstGeom>
          <a:noFill/>
          <a:ln w="9525">
            <a:solidFill>
              <a:srgbClr val="E2E8F0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457200" y="477774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 0 · the ggpaintr equivalent</a:t>
            </a:r>
            <a:endParaRPr lang="en-US" sz="900" dirty="0"/>
          </a:p>
        </p:txBody>
      </p:sp>
      <p:sp>
        <p:nvSpPr>
          <p:cNvPr id="15" name="Text 13"/>
          <p:cNvSpPr/>
          <p:nvPr/>
        </p:nvSpPr>
        <p:spPr>
          <a:xfrm>
            <a:off x="5029200" y="477774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ggpaintr showcase · Will Ju</a:t>
            </a:r>
            <a:endParaRPr lang="en-US" sz="9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200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 0 · REDESIGN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457200" y="59436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F172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Swap dataset and geoms — formula is the only edit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457200" y="1298448"/>
            <a:ext cx="548640" cy="0"/>
          </a:xfrm>
          <a:prstGeom prst="line">
            <a:avLst/>
          </a:prstGeom>
          <a:noFill/>
          <a:ln w="31750">
            <a:solidFill>
              <a:srgbClr val="0D9488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457200" y="1554480"/>
            <a:ext cx="548640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Replace data = iris with data = penguins (palmerpenguins).</a:t>
            </a:r>
            <a:endParaRPr lang="en-US" sz="16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Stack geom_point + geom_boxplot + geom_smooth in one formula.</a:t>
            </a:r>
            <a:endParaRPr lang="en-US" sz="16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Add fill = var — a new widget appears automatically.</a:t>
            </a:r>
            <a:endParaRPr lang="en-US" sz="16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Same ptr_app() call, same widgets-from-placeholders contract.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457200" y="3520440"/>
            <a:ext cx="5486400" cy="1143000"/>
          </a:xfrm>
          <a:prstGeom prst="rect">
            <a:avLst/>
          </a:prstGeom>
          <a:solidFill>
            <a:srgbClr val="F1F5F9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94360" y="3611880"/>
            <a:ext cx="521208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1E29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ptr_app("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1E29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ggplot(data = penguins, aes(x = var, y = var, color = var, fill = var)) +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1E29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geom_point() + geom_boxplot() +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1E29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geom_smooth(method = text) +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1E29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facet_wrap(expr) + labs(title = text)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1E29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")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5943600" y="914400"/>
            <a:ext cx="2743200" cy="1188720"/>
          </a:xfrm>
          <a:prstGeom prst="rect">
            <a:avLst/>
          </a:prstGeom>
          <a:solidFill>
            <a:srgbClr val="F8FAFC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5943600" y="914400"/>
            <a:ext cx="73152" cy="1188720"/>
          </a:xfrm>
          <a:prstGeom prst="rect">
            <a:avLst/>
          </a:prstGeom>
          <a:solidFill>
            <a:srgbClr val="0D9488"/>
          </a:solidFill>
          <a:ln/>
        </p:spPr>
      </p:sp>
      <p:sp>
        <p:nvSpPr>
          <p:cNvPr id="10" name="Text 8"/>
          <p:cNvSpPr/>
          <p:nvPr/>
        </p:nvSpPr>
        <p:spPr>
          <a:xfrm>
            <a:off x="6126480" y="1005840"/>
            <a:ext cx="24688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200" kern="0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SOURCE CHUNK</a:t>
            </a:r>
            <a:endParaRPr lang="en-US" sz="900" dirty="0"/>
          </a:p>
        </p:txBody>
      </p:sp>
      <p:sp>
        <p:nvSpPr>
          <p:cNvPr id="11" name="Text 9"/>
          <p:cNvSpPr/>
          <p:nvPr/>
        </p:nvSpPr>
        <p:spPr>
          <a:xfrm>
            <a:off x="6126480" y="1234440"/>
            <a:ext cx="24688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F172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simple-iris-ggpaintr-2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6126480" y="1600200"/>
            <a:ext cx="24688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Line </a:t>
            </a:r>
            <a:pPr indent="0" marL="0">
              <a:buNone/>
            </a:pPr>
            <a:r>
              <a:rPr lang="en-US" sz="1100" b="1" dirty="0">
                <a:solidFill>
                  <a:srgbClr val="1E29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195</a:t>
            </a:r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·  </a:t>
            </a:r>
            <a:pPr indent="0" marL="0">
              <a:buNone/>
            </a:pPr>
            <a:r>
              <a:rPr lang="en-US" sz="1000" b="1" u="sng" dirty="0">
                <a:solidFill>
                  <a:srgbClr val="0F766E"/>
                </a:solidFill>
                <a:latin typeface="Calibri" pitchFamily="34" charset="0"/>
                <a:ea typeface="Calibri" pitchFamily="34" charset="-122"/>
                <a:cs typeface="Calibri" pitchFamily="34" charset="-120"/>
                <a:hlinkClick r:id="rId1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open demo.Rmd ›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457200" y="4732020"/>
            <a:ext cx="8229600" cy="0"/>
          </a:xfrm>
          <a:prstGeom prst="line">
            <a:avLst/>
          </a:prstGeom>
          <a:noFill/>
          <a:ln w="9525">
            <a:solidFill>
              <a:srgbClr val="E2E8F0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457200" y="477774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 0 · design changes are formula edits</a:t>
            </a:r>
            <a:endParaRPr lang="en-US" sz="900" dirty="0"/>
          </a:p>
        </p:txBody>
      </p:sp>
      <p:sp>
        <p:nvSpPr>
          <p:cNvPr id="15" name="Text 13"/>
          <p:cNvSpPr/>
          <p:nvPr/>
        </p:nvSpPr>
        <p:spPr>
          <a:xfrm>
            <a:off x="5029200" y="477774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ggpaintr showcase · Will Ju</a:t>
            </a:r>
            <a:endParaRPr lang="en-US" sz="9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0D9488"/>
          </a:solidFill>
          <a:ln/>
        </p:spPr>
      </p:sp>
      <p:sp>
        <p:nvSpPr>
          <p:cNvPr id="3" name="Text 1"/>
          <p:cNvSpPr/>
          <p:nvPr/>
        </p:nvSpPr>
        <p:spPr>
          <a:xfrm>
            <a:off x="731520" y="164592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spc="500" kern="0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 1</a:t>
            </a:r>
            <a:endParaRPr lang="en-US" sz="1400" dirty="0"/>
          </a:p>
        </p:txBody>
      </p:sp>
      <p:sp>
        <p:nvSpPr>
          <p:cNvPr id="4" name="Text 2"/>
          <p:cNvSpPr/>
          <p:nvPr/>
        </p:nvSpPr>
        <p:spPr>
          <a:xfrm>
            <a:off x="731520" y="2011680"/>
            <a:ext cx="77724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Core features</a:t>
            </a:r>
            <a:endParaRPr lang="en-US" sz="4000" dirty="0"/>
          </a:p>
        </p:txBody>
      </p:sp>
      <p:sp>
        <p:nvSpPr>
          <p:cNvPr id="5" name="Text 3"/>
          <p:cNvSpPr/>
          <p:nvPr/>
        </p:nvSpPr>
        <p:spPr>
          <a:xfrm>
            <a:off x="731520" y="3200400"/>
            <a:ext cx="77724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i="1" dirty="0">
                <a:solidFill>
                  <a:srgbClr val="94A3B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Three examples, escalating in ambition, all one formula.</a:t>
            </a:r>
            <a:endParaRPr lang="en-US" sz="18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200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EXAMPLE 1.1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457200" y="59436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F172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The simplest possible app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457200" y="1298448"/>
            <a:ext cx="548640" cy="0"/>
          </a:xfrm>
          <a:prstGeom prst="line">
            <a:avLst/>
          </a:prstGeom>
          <a:noFill/>
          <a:ln w="31750">
            <a:solidFill>
              <a:srgbClr val="0D9488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457200" y="1554480"/>
            <a:ext cx="548640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formula: two var pickers, one text box.</a:t>
            </a:r>
            <a:endParaRPr lang="en-US" sz="16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Everything else is free — the geom has no placeholders.</a:t>
            </a:r>
            <a:endParaRPr lang="en-US" sz="16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Click Update plot; code pane mirrors selections.</a:t>
            </a:r>
            <a:endParaRPr lang="en-US" sz="16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Smallest useful thing ggpaintr can do.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457200" y="3520440"/>
            <a:ext cx="5486400" cy="1143000"/>
          </a:xfrm>
          <a:prstGeom prst="rect">
            <a:avLst/>
          </a:prstGeom>
          <a:solidFill>
            <a:srgbClr val="F1F5F9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94360" y="3611880"/>
            <a:ext cx="521208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1E29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ptr_app("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1E29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ggplot(data = iris, aes(x = var, y = var)) +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1E29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geom_point() +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1E29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labs(title = text)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1E29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")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5943600" y="914400"/>
            <a:ext cx="2743200" cy="1188720"/>
          </a:xfrm>
          <a:prstGeom prst="rect">
            <a:avLst/>
          </a:prstGeom>
          <a:solidFill>
            <a:srgbClr val="F8FAFC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5943600" y="914400"/>
            <a:ext cx="73152" cy="1188720"/>
          </a:xfrm>
          <a:prstGeom prst="rect">
            <a:avLst/>
          </a:prstGeom>
          <a:solidFill>
            <a:srgbClr val="0D9488"/>
          </a:solidFill>
          <a:ln/>
        </p:spPr>
      </p:sp>
      <p:sp>
        <p:nvSpPr>
          <p:cNvPr id="10" name="Text 8"/>
          <p:cNvSpPr/>
          <p:nvPr/>
        </p:nvSpPr>
        <p:spPr>
          <a:xfrm>
            <a:off x="6126480" y="1005840"/>
            <a:ext cx="24688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200" kern="0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SOURCE CHUNK</a:t>
            </a:r>
            <a:endParaRPr lang="en-US" sz="900" dirty="0"/>
          </a:p>
        </p:txBody>
      </p:sp>
      <p:sp>
        <p:nvSpPr>
          <p:cNvPr id="11" name="Text 9"/>
          <p:cNvSpPr/>
          <p:nvPr/>
        </p:nvSpPr>
        <p:spPr>
          <a:xfrm>
            <a:off x="6126480" y="1234440"/>
            <a:ext cx="24688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F172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basic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6126480" y="1600200"/>
            <a:ext cx="24688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Line </a:t>
            </a:r>
            <a:pPr indent="0" marL="0">
              <a:buNone/>
            </a:pPr>
            <a:r>
              <a:rPr lang="en-US" sz="1100" b="1" dirty="0">
                <a:solidFill>
                  <a:srgbClr val="1E29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216</a:t>
            </a:r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·  </a:t>
            </a:r>
            <a:pPr indent="0" marL="0">
              <a:buNone/>
            </a:pPr>
            <a:r>
              <a:rPr lang="en-US" sz="1000" b="1" u="sng" dirty="0">
                <a:solidFill>
                  <a:srgbClr val="0F766E"/>
                </a:solidFill>
                <a:latin typeface="Calibri" pitchFamily="34" charset="0"/>
                <a:ea typeface="Calibri" pitchFamily="34" charset="-122"/>
                <a:cs typeface="Calibri" pitchFamily="34" charset="-120"/>
                <a:hlinkClick r:id="rId1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open demo.Rmd ›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457200" y="4732020"/>
            <a:ext cx="8229600" cy="0"/>
          </a:xfrm>
          <a:prstGeom prst="line">
            <a:avLst/>
          </a:prstGeom>
          <a:noFill/>
          <a:ln w="9525">
            <a:solidFill>
              <a:srgbClr val="E2E8F0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457200" y="477774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 1 · example 1.1</a:t>
            </a:r>
            <a:endParaRPr lang="en-US" sz="900" dirty="0"/>
          </a:p>
        </p:txBody>
      </p:sp>
      <p:sp>
        <p:nvSpPr>
          <p:cNvPr id="15" name="Text 13"/>
          <p:cNvSpPr/>
          <p:nvPr/>
        </p:nvSpPr>
        <p:spPr>
          <a:xfrm>
            <a:off x="5029200" y="477774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ggpaintr showcase · Will Ju</a:t>
            </a:r>
            <a:endParaRPr lang="en-US" sz="9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200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EXAMPLE 1.2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457200" y="59436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F172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All five placeholders in one app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457200" y="1298448"/>
            <a:ext cx="548640" cy="0"/>
          </a:xfrm>
          <a:prstGeom prst="line">
            <a:avLst/>
          </a:prstGeom>
          <a:noFill/>
          <a:ln w="31750">
            <a:solidFill>
              <a:srgbClr val="0D9488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457200" y="1554480"/>
            <a:ext cx="548640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upload replaces the dataset with a user-uploaded CSV.</a:t>
            </a:r>
            <a:endParaRPr lang="en-US" sz="16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size / alpha / legend.position driven by num and text.</a:t>
            </a:r>
            <a:endParaRPr lang="en-US" sz="16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expr fields take raw R (se = TRUE, facet_wrap(~ group)).</a:t>
            </a:r>
            <a:endParaRPr lang="en-US" sz="16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Each layer is individually toggleable — vanishes from plot and code.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457200" y="3520440"/>
            <a:ext cx="5486400" cy="1280160"/>
          </a:xfrm>
          <a:prstGeom prst="rect">
            <a:avLst/>
          </a:prstGeom>
          <a:solidFill>
            <a:srgbClr val="F1F5F9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94360" y="3611880"/>
            <a:ext cx="521208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1E29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ptr_app("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1E29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ggplot(data = upload, aes(x = var, y = var)) +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1E29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geom_point(aes(color = var), size = num, alpha = num) +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1E29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geom_smooth(method = text, se = expr) +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1E29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labs(title = text, x = text, y = text) +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1E29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facet_wrap(expr) + theme(legend.position = text)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1E29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")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5943600" y="914400"/>
            <a:ext cx="2743200" cy="1188720"/>
          </a:xfrm>
          <a:prstGeom prst="rect">
            <a:avLst/>
          </a:prstGeom>
          <a:solidFill>
            <a:srgbClr val="F8FAFC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5943600" y="914400"/>
            <a:ext cx="73152" cy="1188720"/>
          </a:xfrm>
          <a:prstGeom prst="rect">
            <a:avLst/>
          </a:prstGeom>
          <a:solidFill>
            <a:srgbClr val="0D9488"/>
          </a:solidFill>
          <a:ln/>
        </p:spPr>
      </p:sp>
      <p:sp>
        <p:nvSpPr>
          <p:cNvPr id="10" name="Text 8"/>
          <p:cNvSpPr/>
          <p:nvPr/>
        </p:nvSpPr>
        <p:spPr>
          <a:xfrm>
            <a:off x="6126480" y="1005840"/>
            <a:ext cx="24688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200" kern="0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SOURCE CHUNK</a:t>
            </a:r>
            <a:endParaRPr lang="en-US" sz="900" dirty="0"/>
          </a:p>
        </p:txBody>
      </p:sp>
      <p:sp>
        <p:nvSpPr>
          <p:cNvPr id="11" name="Text 9"/>
          <p:cNvSpPr/>
          <p:nvPr/>
        </p:nvSpPr>
        <p:spPr>
          <a:xfrm>
            <a:off x="6126480" y="1234440"/>
            <a:ext cx="24688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F172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all-placeholders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6126480" y="1600200"/>
            <a:ext cx="24688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Line </a:t>
            </a:r>
            <a:pPr indent="0" marL="0">
              <a:buNone/>
            </a:pPr>
            <a:r>
              <a:rPr lang="en-US" sz="1100" b="1" dirty="0">
                <a:solidFill>
                  <a:srgbClr val="1E29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233</a:t>
            </a:r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·  </a:t>
            </a:r>
            <a:pPr indent="0" marL="0">
              <a:buNone/>
            </a:pPr>
            <a:r>
              <a:rPr lang="en-US" sz="1000" b="1" u="sng" dirty="0">
                <a:solidFill>
                  <a:srgbClr val="0F766E"/>
                </a:solidFill>
                <a:latin typeface="Calibri" pitchFamily="34" charset="0"/>
                <a:ea typeface="Calibri" pitchFamily="34" charset="-122"/>
                <a:cs typeface="Calibri" pitchFamily="34" charset="-120"/>
                <a:hlinkClick r:id="rId1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open demo.Rmd ›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457200" y="4732020"/>
            <a:ext cx="8229600" cy="0"/>
          </a:xfrm>
          <a:prstGeom prst="line">
            <a:avLst/>
          </a:prstGeom>
          <a:noFill/>
          <a:ln w="9525">
            <a:solidFill>
              <a:srgbClr val="E2E8F0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457200" y="477774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 1 · example 1.2</a:t>
            </a:r>
            <a:endParaRPr lang="en-US" sz="900" dirty="0"/>
          </a:p>
        </p:txBody>
      </p:sp>
      <p:sp>
        <p:nvSpPr>
          <p:cNvPr id="15" name="Text 13"/>
          <p:cNvSpPr/>
          <p:nvPr/>
        </p:nvSpPr>
        <p:spPr>
          <a:xfrm>
            <a:off x="5029200" y="477774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ggpaintr showcase · Will Ju</a:t>
            </a:r>
            <a:endParaRPr lang="en-US" sz="9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200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EXAMPLE 1.3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457200" y="59436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F172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expr: the compatibility escape hatch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457200" y="1298448"/>
            <a:ext cx="548640" cy="0"/>
          </a:xfrm>
          <a:prstGeom prst="line">
            <a:avLst/>
          </a:prstGeom>
          <a:noFill/>
          <a:ln w="31750">
            <a:solidFill>
              <a:srgbClr val="0D9488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457200" y="1554480"/>
            <a:ext cx="548640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6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expr is parsed as an R expression at draw time.</a:t>
            </a:r>
            <a:endParaRPr lang="en-US" sz="16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Scales, coords, stats, annotations, vector args — any of them.</a:t>
            </a:r>
            <a:endParaRPr lang="en-US" sz="16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dedicated placeholder needed for obscure ggplot features.</a:t>
            </a:r>
            <a:endParaRPr lang="en-US" sz="16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Trailing expr = theme_minimal(...) splices whole components in.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457200" y="3520440"/>
            <a:ext cx="5486400" cy="1143000"/>
          </a:xfrm>
          <a:prstGeom prst="rect">
            <a:avLst/>
          </a:prstGeom>
          <a:solidFill>
            <a:srgbClr val="F1F5F9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94360" y="3611880"/>
            <a:ext cx="521208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1E29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scale_color_manual(values = expr) +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1E29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coord_cartesian(xlim = expr, ylim = expr) +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1E29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labs(title = text) +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1E29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expr   # e.g. theme_minimal(base_size = 14)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5943600" y="914400"/>
            <a:ext cx="2743200" cy="1188720"/>
          </a:xfrm>
          <a:prstGeom prst="rect">
            <a:avLst/>
          </a:prstGeom>
          <a:solidFill>
            <a:srgbClr val="F8FAFC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5943600" y="914400"/>
            <a:ext cx="73152" cy="1188720"/>
          </a:xfrm>
          <a:prstGeom prst="rect">
            <a:avLst/>
          </a:prstGeom>
          <a:solidFill>
            <a:srgbClr val="0D9488"/>
          </a:solidFill>
          <a:ln/>
        </p:spPr>
      </p:sp>
      <p:sp>
        <p:nvSpPr>
          <p:cNvPr id="10" name="Text 8"/>
          <p:cNvSpPr/>
          <p:nvPr/>
        </p:nvSpPr>
        <p:spPr>
          <a:xfrm>
            <a:off x="6126480" y="1005840"/>
            <a:ext cx="24688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200" kern="0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SOURCE CHUNK</a:t>
            </a:r>
            <a:endParaRPr lang="en-US" sz="900" dirty="0"/>
          </a:p>
        </p:txBody>
      </p:sp>
      <p:sp>
        <p:nvSpPr>
          <p:cNvPr id="11" name="Text 9"/>
          <p:cNvSpPr/>
          <p:nvPr/>
        </p:nvSpPr>
        <p:spPr>
          <a:xfrm>
            <a:off x="6126480" y="1234440"/>
            <a:ext cx="24688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F172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expr-compat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6126480" y="1600200"/>
            <a:ext cx="24688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Line </a:t>
            </a:r>
            <a:pPr indent="0" marL="0">
              <a:buNone/>
            </a:pPr>
            <a:r>
              <a:rPr lang="en-US" sz="1100" b="1" dirty="0">
                <a:solidFill>
                  <a:srgbClr val="1E29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262</a:t>
            </a:r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·  </a:t>
            </a:r>
            <a:pPr indent="0" marL="0">
              <a:buNone/>
            </a:pPr>
            <a:r>
              <a:rPr lang="en-US" sz="1000" b="1" u="sng" dirty="0">
                <a:solidFill>
                  <a:srgbClr val="0F766E"/>
                </a:solidFill>
                <a:latin typeface="Calibri" pitchFamily="34" charset="0"/>
                <a:ea typeface="Calibri" pitchFamily="34" charset="-122"/>
                <a:cs typeface="Calibri" pitchFamily="34" charset="-120"/>
                <a:hlinkClick r:id="rId1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open demo.Rmd ›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457200" y="4732020"/>
            <a:ext cx="8229600" cy="0"/>
          </a:xfrm>
          <a:prstGeom prst="line">
            <a:avLst/>
          </a:prstGeom>
          <a:noFill/>
          <a:ln w="9525">
            <a:solidFill>
              <a:srgbClr val="E2E8F0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457200" y="477774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 1 · example 1.3</a:t>
            </a:r>
            <a:endParaRPr lang="en-US" sz="900" dirty="0"/>
          </a:p>
        </p:txBody>
      </p:sp>
      <p:sp>
        <p:nvSpPr>
          <p:cNvPr id="15" name="Text 13"/>
          <p:cNvSpPr/>
          <p:nvPr/>
        </p:nvSpPr>
        <p:spPr>
          <a:xfrm>
            <a:off x="5029200" y="477774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ggpaintr showcase · Will Ju</a:t>
            </a:r>
            <a:endParaRPr lang="en-US" sz="9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0D9488"/>
          </a:solidFill>
          <a:ln/>
        </p:spPr>
      </p:sp>
      <p:sp>
        <p:nvSpPr>
          <p:cNvPr id="3" name="Text 1"/>
          <p:cNvSpPr/>
          <p:nvPr/>
        </p:nvSpPr>
        <p:spPr>
          <a:xfrm>
            <a:off x="731520" y="164592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spc="500" kern="0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 2</a:t>
            </a:r>
            <a:endParaRPr lang="en-US" sz="1400" dirty="0"/>
          </a:p>
        </p:txBody>
      </p:sp>
      <p:sp>
        <p:nvSpPr>
          <p:cNvPr id="4" name="Text 2"/>
          <p:cNvSpPr/>
          <p:nvPr/>
        </p:nvSpPr>
        <p:spPr>
          <a:xfrm>
            <a:off x="731520" y="2011680"/>
            <a:ext cx="77724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8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Three levels of extensibility</a:t>
            </a:r>
            <a:endParaRPr lang="en-US" sz="3800" dirty="0"/>
          </a:p>
        </p:txBody>
      </p:sp>
      <p:sp>
        <p:nvSpPr>
          <p:cNvPr id="5" name="Text 3"/>
          <p:cNvSpPr/>
          <p:nvPr/>
        </p:nvSpPr>
        <p:spPr>
          <a:xfrm>
            <a:off x="731520" y="3200400"/>
            <a:ext cx="77724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i="1" dirty="0">
                <a:solidFill>
                  <a:srgbClr val="94A3B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How much of the shell do you want to own?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731520" y="3931920"/>
            <a:ext cx="2651760" cy="822960"/>
          </a:xfrm>
          <a:prstGeom prst="rect">
            <a:avLst/>
          </a:prstGeom>
          <a:solidFill>
            <a:srgbClr val="1E293B"/>
          </a:solidFill>
          <a:ln w="9525">
            <a:solidFill>
              <a:srgbClr val="0D9488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868680" y="4005072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L1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868680" y="4224528"/>
            <a:ext cx="2423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Use the wrapper</a:t>
            </a:r>
            <a:endParaRPr lang="en-US" sz="1500" dirty="0"/>
          </a:p>
        </p:txBody>
      </p:sp>
      <p:sp>
        <p:nvSpPr>
          <p:cNvPr id="9" name="Text 7"/>
          <p:cNvSpPr/>
          <p:nvPr/>
        </p:nvSpPr>
        <p:spPr>
          <a:xfrm>
            <a:off x="868680" y="4462272"/>
            <a:ext cx="2423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CBD5E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ptr_app() + ui_text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3520440" y="3931920"/>
            <a:ext cx="2651760" cy="822960"/>
          </a:xfrm>
          <a:prstGeom prst="rect">
            <a:avLst/>
          </a:prstGeom>
          <a:solidFill>
            <a:srgbClr val="1E293B"/>
          </a:solidFill>
          <a:ln w="9525">
            <a:solidFill>
              <a:srgbClr val="0D9488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3657600" y="4005072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L2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3657600" y="4224528"/>
            <a:ext cx="2423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Embed in your UI</a:t>
            </a:r>
            <a:endParaRPr lang="en-US" sz="1500" dirty="0"/>
          </a:p>
        </p:txBody>
      </p:sp>
      <p:sp>
        <p:nvSpPr>
          <p:cNvPr id="13" name="Text 11"/>
          <p:cNvSpPr/>
          <p:nvPr/>
        </p:nvSpPr>
        <p:spPr>
          <a:xfrm>
            <a:off x="3657600" y="4462272"/>
            <a:ext cx="2423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CBD5E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ptr_server_state + register_*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6309360" y="3931920"/>
            <a:ext cx="2651760" cy="822960"/>
          </a:xfrm>
          <a:prstGeom prst="rect">
            <a:avLst/>
          </a:prstGeom>
          <a:solidFill>
            <a:srgbClr val="1E293B"/>
          </a:solidFill>
          <a:ln w="9525">
            <a:solidFill>
              <a:srgbClr val="0D9488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6446520" y="4005072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L3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6446520" y="4224528"/>
            <a:ext cx="2423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Own the render</a:t>
            </a:r>
            <a:endParaRPr lang="en-US" sz="1500" dirty="0"/>
          </a:p>
        </p:txBody>
      </p:sp>
      <p:sp>
        <p:nvSpPr>
          <p:cNvPr id="17" name="Text 15"/>
          <p:cNvSpPr/>
          <p:nvPr/>
        </p:nvSpPr>
        <p:spPr>
          <a:xfrm>
            <a:off x="6446520" y="4462272"/>
            <a:ext cx="2423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CBD5E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ptr_extract_plot + ptr_gg_extra</a:t>
            </a:r>
            <a:endParaRPr lang="en-US" sz="10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200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LEVEL 1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457200" y="59436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F172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One-liner wrapper with UI text overrides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457200" y="1298448"/>
            <a:ext cx="548640" cy="0"/>
          </a:xfrm>
          <a:prstGeom prst="line">
            <a:avLst/>
          </a:prstGeom>
          <a:noFill/>
          <a:ln w="31750">
            <a:solidFill>
              <a:srgbClr val="0D9488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457200" y="1554480"/>
            <a:ext cx="548640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6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ptr_app() / ptr_app_bslib() — the shipped wrappers.</a:t>
            </a:r>
            <a:endParaRPr lang="en-US" sz="16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Pass ui_text to retitle shell, buttons, per-param and per-layer labels.</a:t>
            </a:r>
            <a:endParaRPr lang="en-US" sz="16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Shiny code written — just a nested list of copy overrides.</a:t>
            </a:r>
            <a:endParaRPr lang="en-US" sz="16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Good fit when you want a polished single-purpose app.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457200" y="3520440"/>
            <a:ext cx="5486400" cy="1234440"/>
          </a:xfrm>
          <a:prstGeom prst="rect">
            <a:avLst/>
          </a:prstGeom>
          <a:solidFill>
            <a:srgbClr val="F1F5F9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94360" y="3611880"/>
            <a:ext cx="521208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1E29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ptr_app_bslib(formula, ui_text = list(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1E29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shell  = list(title = list(label = "Iris Explorer")),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1E29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params = list(x = list(var = list(label = "X-axis column"))),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1E29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layers = list(geom_point = list(num = list(size = list(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1E29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label = "Point size", help = "Typical: 1 – 5"))))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1E29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))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5943600" y="914400"/>
            <a:ext cx="2743200" cy="1188720"/>
          </a:xfrm>
          <a:prstGeom prst="rect">
            <a:avLst/>
          </a:prstGeom>
          <a:solidFill>
            <a:srgbClr val="F8FAFC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5943600" y="914400"/>
            <a:ext cx="73152" cy="1188720"/>
          </a:xfrm>
          <a:prstGeom prst="rect">
            <a:avLst/>
          </a:prstGeom>
          <a:solidFill>
            <a:srgbClr val="0D9488"/>
          </a:solidFill>
          <a:ln/>
        </p:spPr>
      </p:sp>
      <p:sp>
        <p:nvSpPr>
          <p:cNvPr id="10" name="Text 8"/>
          <p:cNvSpPr/>
          <p:nvPr/>
        </p:nvSpPr>
        <p:spPr>
          <a:xfrm>
            <a:off x="6126480" y="1005840"/>
            <a:ext cx="24688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200" kern="0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SOURCE CHUNK</a:t>
            </a:r>
            <a:endParaRPr lang="en-US" sz="900" dirty="0"/>
          </a:p>
        </p:txBody>
      </p:sp>
      <p:sp>
        <p:nvSpPr>
          <p:cNvPr id="11" name="Text 9"/>
          <p:cNvSpPr/>
          <p:nvPr/>
        </p:nvSpPr>
        <p:spPr>
          <a:xfrm>
            <a:off x="6126480" y="1234440"/>
            <a:ext cx="24688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F172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extensibility-level-1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6126480" y="1600200"/>
            <a:ext cx="24688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Line </a:t>
            </a:r>
            <a:pPr indent="0" marL="0">
              <a:buNone/>
            </a:pPr>
            <a:r>
              <a:rPr lang="en-US" sz="1100" b="1" dirty="0">
                <a:solidFill>
                  <a:srgbClr val="1E29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296</a:t>
            </a:r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·  </a:t>
            </a:r>
            <a:pPr indent="0" marL="0">
              <a:buNone/>
            </a:pPr>
            <a:r>
              <a:rPr lang="en-US" sz="1000" b="1" u="sng" dirty="0">
                <a:solidFill>
                  <a:srgbClr val="0F766E"/>
                </a:solidFill>
                <a:latin typeface="Calibri" pitchFamily="34" charset="0"/>
                <a:ea typeface="Calibri" pitchFamily="34" charset="-122"/>
                <a:cs typeface="Calibri" pitchFamily="34" charset="-120"/>
                <a:hlinkClick r:id="rId1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open demo.Rmd ›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457200" y="4732020"/>
            <a:ext cx="8229600" cy="0"/>
          </a:xfrm>
          <a:prstGeom prst="line">
            <a:avLst/>
          </a:prstGeom>
          <a:noFill/>
          <a:ln w="9525">
            <a:solidFill>
              <a:srgbClr val="E2E8F0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457200" y="477774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 2 · level 1</a:t>
            </a:r>
            <a:endParaRPr lang="en-US" sz="900" dirty="0"/>
          </a:p>
        </p:txBody>
      </p:sp>
      <p:sp>
        <p:nvSpPr>
          <p:cNvPr id="15" name="Text 13"/>
          <p:cNvSpPr/>
          <p:nvPr/>
        </p:nvSpPr>
        <p:spPr>
          <a:xfrm>
            <a:off x="5029200" y="477774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ggpaintr showcase · Will Ju</a:t>
            </a:r>
            <a:endParaRPr lang="en-US" sz="9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200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LEVEL 2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457200" y="59436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F172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Embed into your own Shiny layout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457200" y="1298448"/>
            <a:ext cx="548640" cy="0"/>
          </a:xfrm>
          <a:prstGeom prst="line">
            <a:avLst/>
          </a:prstGeom>
          <a:noFill/>
          <a:ln w="31750">
            <a:solidFill>
              <a:srgbClr val="0D9488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457200" y="1554480"/>
            <a:ext cx="548640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6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ptr_build_ids() gives you control over every Shiny id.</a:t>
            </a:r>
            <a:endParaRPr lang="en-US" sz="16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Drop ptr_input_ui() / ptr_output_ui() wherever in your layout.</a:t>
            </a:r>
            <a:endParaRPr lang="en-US" sz="16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ptr_register_{draw,plot,error,code}() wire the runtime in.</a:t>
            </a:r>
            <a:endParaRPr lang="en-US" sz="16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Your own reactives can read ptr_state$runtime() — side panels, status.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457200" y="3520440"/>
            <a:ext cx="5486400" cy="1234440"/>
          </a:xfrm>
          <a:prstGeom prst="rect">
            <a:avLst/>
          </a:prstGeom>
          <a:solidFill>
            <a:srgbClr val="F1F5F9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94360" y="3611880"/>
            <a:ext cx="521208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1E29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ptr_state &lt;- ptr_server_state(formula, ids = custom_ids)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1E29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ptr_setup_controls(input, output, ptr_state, ids = custom_ids)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1E29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ptr_register_draw (input,         ptr_state, ids = custom_ids)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1E29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ptr_register_plot (output,        ptr_state, ids = custom_ids)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1E29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ptr_register_error(output,        ptr_state, ids = custom_ids)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1E29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ptr_register_code (output,        ptr_state, ids = custom_ids)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5943600" y="914400"/>
            <a:ext cx="2743200" cy="1188720"/>
          </a:xfrm>
          <a:prstGeom prst="rect">
            <a:avLst/>
          </a:prstGeom>
          <a:solidFill>
            <a:srgbClr val="F8FAFC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5943600" y="914400"/>
            <a:ext cx="73152" cy="1188720"/>
          </a:xfrm>
          <a:prstGeom prst="rect">
            <a:avLst/>
          </a:prstGeom>
          <a:solidFill>
            <a:srgbClr val="0D9488"/>
          </a:solidFill>
          <a:ln/>
        </p:spPr>
      </p:sp>
      <p:sp>
        <p:nvSpPr>
          <p:cNvPr id="10" name="Text 8"/>
          <p:cNvSpPr/>
          <p:nvPr/>
        </p:nvSpPr>
        <p:spPr>
          <a:xfrm>
            <a:off x="6126480" y="1005840"/>
            <a:ext cx="24688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200" kern="0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SOURCE CHUNK</a:t>
            </a:r>
            <a:endParaRPr lang="en-US" sz="900" dirty="0"/>
          </a:p>
        </p:txBody>
      </p:sp>
      <p:sp>
        <p:nvSpPr>
          <p:cNvPr id="11" name="Text 9"/>
          <p:cNvSpPr/>
          <p:nvPr/>
        </p:nvSpPr>
        <p:spPr>
          <a:xfrm>
            <a:off x="6126480" y="1234440"/>
            <a:ext cx="24688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F172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extensibility-level-2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6126480" y="1600200"/>
            <a:ext cx="24688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Line </a:t>
            </a:r>
            <a:pPr indent="0" marL="0">
              <a:buNone/>
            </a:pPr>
            <a:r>
              <a:rPr lang="en-US" sz="1100" b="1" dirty="0">
                <a:solidFill>
                  <a:srgbClr val="1E29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330</a:t>
            </a:r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·  </a:t>
            </a:r>
            <a:pPr indent="0" marL="0">
              <a:buNone/>
            </a:pPr>
            <a:r>
              <a:rPr lang="en-US" sz="1000" b="1" u="sng" dirty="0">
                <a:solidFill>
                  <a:srgbClr val="0F766E"/>
                </a:solidFill>
                <a:latin typeface="Calibri" pitchFamily="34" charset="0"/>
                <a:ea typeface="Calibri" pitchFamily="34" charset="-122"/>
                <a:cs typeface="Calibri" pitchFamily="34" charset="-120"/>
                <a:hlinkClick r:id="rId1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open demo.Rmd ›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457200" y="4732020"/>
            <a:ext cx="8229600" cy="0"/>
          </a:xfrm>
          <a:prstGeom prst="line">
            <a:avLst/>
          </a:prstGeom>
          <a:noFill/>
          <a:ln w="9525">
            <a:solidFill>
              <a:srgbClr val="E2E8F0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457200" y="477774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 2 · level 2</a:t>
            </a:r>
            <a:endParaRPr lang="en-US" sz="900" dirty="0"/>
          </a:p>
        </p:txBody>
      </p:sp>
      <p:sp>
        <p:nvSpPr>
          <p:cNvPr id="15" name="Text 13"/>
          <p:cNvSpPr/>
          <p:nvPr/>
        </p:nvSpPr>
        <p:spPr>
          <a:xfrm>
            <a:off x="5029200" y="477774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ggpaintr showcase · Will Ju</a:t>
            </a:r>
            <a:endParaRPr lang="en-US" sz="9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200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LEVEL 3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457200" y="59436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F172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Own the render path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457200" y="1298448"/>
            <a:ext cx="548640" cy="0"/>
          </a:xfrm>
          <a:prstGeom prst="line">
            <a:avLst/>
          </a:prstGeom>
          <a:noFill/>
          <a:ln w="31750">
            <a:solidFill>
              <a:srgbClr val="0D9488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457200" y="1554480"/>
            <a:ext cx="548640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6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Swap in your own renderPlot() (or renderGirafe / renderPlotly).</a:t>
            </a:r>
            <a:endParaRPr lang="en-US" sz="16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ptr_extract_plot(runtime) hands you the built ggplot object.</a:t>
            </a:r>
            <a:endParaRPr lang="en-US" sz="16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Append layers freely — theme_minimal, scale_color_brewer, etc.</a:t>
            </a:r>
            <a:endParaRPr lang="en-US" sz="16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Wrap additions in ptr_gg_extra() so they also appear in the code pane.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457200" y="3520440"/>
            <a:ext cx="5486400" cy="1234440"/>
          </a:xfrm>
          <a:prstGeom prst="rect">
            <a:avLst/>
          </a:prstGeom>
          <a:solidFill>
            <a:srgbClr val="F1F5F9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94360" y="3611880"/>
            <a:ext cx="521208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1E29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output$outputPlot &lt;- renderPlot({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1E29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plot_obj &lt;- ptr_extract_plot(ptr_state$runtime())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1E29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plot_obj + ptr_gg_extra(ptr_state,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1E29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theme_minimal(base_size = 16),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1E29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scale_color_brewer(palette = "Dark2"))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1E29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})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5943600" y="914400"/>
            <a:ext cx="2743200" cy="1188720"/>
          </a:xfrm>
          <a:prstGeom prst="rect">
            <a:avLst/>
          </a:prstGeom>
          <a:solidFill>
            <a:srgbClr val="F8FAFC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5943600" y="914400"/>
            <a:ext cx="73152" cy="1188720"/>
          </a:xfrm>
          <a:prstGeom prst="rect">
            <a:avLst/>
          </a:prstGeom>
          <a:solidFill>
            <a:srgbClr val="0D9488"/>
          </a:solidFill>
          <a:ln/>
        </p:spPr>
      </p:sp>
      <p:sp>
        <p:nvSpPr>
          <p:cNvPr id="10" name="Text 8"/>
          <p:cNvSpPr/>
          <p:nvPr/>
        </p:nvSpPr>
        <p:spPr>
          <a:xfrm>
            <a:off x="6126480" y="1005840"/>
            <a:ext cx="24688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200" kern="0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SOURCE CHUNK</a:t>
            </a:r>
            <a:endParaRPr lang="en-US" sz="900" dirty="0"/>
          </a:p>
        </p:txBody>
      </p:sp>
      <p:sp>
        <p:nvSpPr>
          <p:cNvPr id="11" name="Text 9"/>
          <p:cNvSpPr/>
          <p:nvPr/>
        </p:nvSpPr>
        <p:spPr>
          <a:xfrm>
            <a:off x="6126480" y="1234440"/>
            <a:ext cx="24688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F172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extensibility-level-3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6126480" y="1600200"/>
            <a:ext cx="24688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Line </a:t>
            </a:r>
            <a:pPr indent="0" marL="0">
              <a:buNone/>
            </a:pPr>
            <a:r>
              <a:rPr lang="en-US" sz="1100" b="1" dirty="0">
                <a:solidFill>
                  <a:srgbClr val="1E29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387</a:t>
            </a:r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·  </a:t>
            </a:r>
            <a:pPr indent="0" marL="0">
              <a:buNone/>
            </a:pPr>
            <a:r>
              <a:rPr lang="en-US" sz="1000" b="1" u="sng" dirty="0">
                <a:solidFill>
                  <a:srgbClr val="0F766E"/>
                </a:solidFill>
                <a:latin typeface="Calibri" pitchFamily="34" charset="0"/>
                <a:ea typeface="Calibri" pitchFamily="34" charset="-122"/>
                <a:cs typeface="Calibri" pitchFamily="34" charset="-120"/>
                <a:hlinkClick r:id="rId1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open demo.Rmd ›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457200" y="4732020"/>
            <a:ext cx="8229600" cy="0"/>
          </a:xfrm>
          <a:prstGeom prst="line">
            <a:avLst/>
          </a:prstGeom>
          <a:noFill/>
          <a:ln w="9525">
            <a:solidFill>
              <a:srgbClr val="E2E8F0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457200" y="477774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 2 · level 3</a:t>
            </a:r>
            <a:endParaRPr lang="en-US" sz="900" dirty="0"/>
          </a:p>
        </p:txBody>
      </p:sp>
      <p:sp>
        <p:nvSpPr>
          <p:cNvPr id="15" name="Text 13"/>
          <p:cNvSpPr/>
          <p:nvPr/>
        </p:nvSpPr>
        <p:spPr>
          <a:xfrm>
            <a:off x="5029200" y="477774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ggpaintr showcase · Will Ju</a:t>
            </a:r>
            <a:endParaRPr lang="en-US" sz="9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200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EMBEDDING · ggiraph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457200" y="59436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F172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Interactive SVG via renderGirafe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457200" y="1298448"/>
            <a:ext cx="548640" cy="0"/>
          </a:xfrm>
          <a:prstGeom prst="line">
            <a:avLst/>
          </a:prstGeom>
          <a:noFill/>
          <a:ln w="31750">
            <a:solidFill>
              <a:srgbClr val="0D9488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457200" y="1554480"/>
            <a:ext cx="5486400" cy="2926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Swap plotOutput for ggiraph::girafeOutput in the UI.</a:t>
            </a:r>
            <a:endParaRPr lang="en-US" sz="16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 renderGirafe and call girafe(code = print(plot_obj), ...).</a:t>
            </a:r>
            <a:endParaRPr lang="en-US" sz="16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Add opts_hover / opts_selection for hover and selection behaviour.</a:t>
            </a:r>
            <a:endParaRPr lang="en-US" sz="16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Works with geom_point_interactive — tooltip, data_id as aes mappings.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5943600" y="914400"/>
            <a:ext cx="2743200" cy="1188720"/>
          </a:xfrm>
          <a:prstGeom prst="rect">
            <a:avLst/>
          </a:prstGeom>
          <a:solidFill>
            <a:srgbClr val="F8FAFC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5943600" y="914400"/>
            <a:ext cx="73152" cy="1188720"/>
          </a:xfrm>
          <a:prstGeom prst="rect">
            <a:avLst/>
          </a:prstGeom>
          <a:solidFill>
            <a:srgbClr val="0D9488"/>
          </a:solidFill>
          <a:ln/>
        </p:spPr>
      </p:sp>
      <p:sp>
        <p:nvSpPr>
          <p:cNvPr id="8" name="Text 6"/>
          <p:cNvSpPr/>
          <p:nvPr/>
        </p:nvSpPr>
        <p:spPr>
          <a:xfrm>
            <a:off x="6126480" y="1005840"/>
            <a:ext cx="24688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200" kern="0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SOURCE CHUNK</a:t>
            </a:r>
            <a:endParaRPr lang="en-US" sz="900" dirty="0"/>
          </a:p>
        </p:txBody>
      </p:sp>
      <p:sp>
        <p:nvSpPr>
          <p:cNvPr id="9" name="Text 7"/>
          <p:cNvSpPr/>
          <p:nvPr/>
        </p:nvSpPr>
        <p:spPr>
          <a:xfrm>
            <a:off x="6126480" y="1234440"/>
            <a:ext cx="24688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F172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unnamed (ggiraph)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6126480" y="1600200"/>
            <a:ext cx="24688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Line </a:t>
            </a:r>
            <a:pPr indent="0" marL="0">
              <a:buNone/>
            </a:pPr>
            <a:r>
              <a:rPr lang="en-US" sz="1100" b="1" dirty="0">
                <a:solidFill>
                  <a:srgbClr val="1E29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452</a:t>
            </a:r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·  </a:t>
            </a:r>
            <a:pPr indent="0" marL="0">
              <a:buNone/>
            </a:pPr>
            <a:r>
              <a:rPr lang="en-US" sz="1000" b="1" u="sng" dirty="0">
                <a:solidFill>
                  <a:srgbClr val="0F766E"/>
                </a:solidFill>
                <a:latin typeface="Calibri" pitchFamily="34" charset="0"/>
                <a:ea typeface="Calibri" pitchFamily="34" charset="-122"/>
                <a:cs typeface="Calibri" pitchFamily="34" charset="-120"/>
                <a:hlinkClick r:id="rId1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open demo.Rmd ›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457200" y="4732020"/>
            <a:ext cx="8229600" cy="0"/>
          </a:xfrm>
          <a:prstGeom prst="line">
            <a:avLst/>
          </a:prstGeom>
          <a:noFill/>
          <a:ln w="9525">
            <a:solidFill>
              <a:srgbClr val="E2E8F0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457200" y="477774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 2 · ggiraph embedding</a:t>
            </a:r>
            <a:endParaRPr lang="en-US" sz="900" dirty="0"/>
          </a:p>
        </p:txBody>
      </p:sp>
      <p:sp>
        <p:nvSpPr>
          <p:cNvPr id="13" name="Text 11"/>
          <p:cNvSpPr/>
          <p:nvPr/>
        </p:nvSpPr>
        <p:spPr>
          <a:xfrm>
            <a:off x="5029200" y="477774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ggpaintr showcase · Will Ju</a:t>
            </a:r>
            <a:endParaRPr lang="en-US" sz="90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200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EMBEDDING · plotly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457200" y="59436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F172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Zero-effort interactivity via ggplotly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457200" y="1298448"/>
            <a:ext cx="548640" cy="0"/>
          </a:xfrm>
          <a:prstGeom prst="line">
            <a:avLst/>
          </a:prstGeom>
          <a:noFill/>
          <a:ln w="31750">
            <a:solidFill>
              <a:srgbClr val="0D9488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457200" y="1554480"/>
            <a:ext cx="5486400" cy="2926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plotlyOutput + renderPlotly on the Shiny side.</a:t>
            </a:r>
            <a:endParaRPr lang="en-US" sz="16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ggplotly(plot_obj) converts any ggpaintr plot to a plotly widget.</a:t>
            </a:r>
            <a:endParaRPr lang="en-US" sz="16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changes to the formula — interactivity comes from the render path.</a:t>
            </a:r>
            <a:endParaRPr lang="en-US" sz="16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Trade-off: less control than ggiraph, but one line of conversion.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5943600" y="914400"/>
            <a:ext cx="2743200" cy="1188720"/>
          </a:xfrm>
          <a:prstGeom prst="rect">
            <a:avLst/>
          </a:prstGeom>
          <a:solidFill>
            <a:srgbClr val="F8FAFC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5943600" y="914400"/>
            <a:ext cx="73152" cy="1188720"/>
          </a:xfrm>
          <a:prstGeom prst="rect">
            <a:avLst/>
          </a:prstGeom>
          <a:solidFill>
            <a:srgbClr val="0D9488"/>
          </a:solidFill>
          <a:ln/>
        </p:spPr>
      </p:sp>
      <p:sp>
        <p:nvSpPr>
          <p:cNvPr id="8" name="Text 6"/>
          <p:cNvSpPr/>
          <p:nvPr/>
        </p:nvSpPr>
        <p:spPr>
          <a:xfrm>
            <a:off x="6126480" y="1005840"/>
            <a:ext cx="24688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200" kern="0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SOURCE CHUNK</a:t>
            </a:r>
            <a:endParaRPr lang="en-US" sz="900" dirty="0"/>
          </a:p>
        </p:txBody>
      </p:sp>
      <p:sp>
        <p:nvSpPr>
          <p:cNvPr id="9" name="Text 7"/>
          <p:cNvSpPr/>
          <p:nvPr/>
        </p:nvSpPr>
        <p:spPr>
          <a:xfrm>
            <a:off x="6126480" y="1234440"/>
            <a:ext cx="24688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F172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unnamed (plotly)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6126480" y="1600200"/>
            <a:ext cx="24688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Line </a:t>
            </a:r>
            <a:pPr indent="0" marL="0">
              <a:buNone/>
            </a:pPr>
            <a:r>
              <a:rPr lang="en-US" sz="1100" b="1" dirty="0">
                <a:solidFill>
                  <a:srgbClr val="1E29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507</a:t>
            </a:r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·  </a:t>
            </a:r>
            <a:pPr indent="0" marL="0">
              <a:buNone/>
            </a:pPr>
            <a:r>
              <a:rPr lang="en-US" sz="1000" b="1" u="sng" dirty="0">
                <a:solidFill>
                  <a:srgbClr val="0F766E"/>
                </a:solidFill>
                <a:latin typeface="Calibri" pitchFamily="34" charset="0"/>
                <a:ea typeface="Calibri" pitchFamily="34" charset="-122"/>
                <a:cs typeface="Calibri" pitchFamily="34" charset="-120"/>
                <a:hlinkClick r:id="rId1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open demo.Rmd ›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457200" y="4732020"/>
            <a:ext cx="8229600" cy="0"/>
          </a:xfrm>
          <a:prstGeom prst="line">
            <a:avLst/>
          </a:prstGeom>
          <a:noFill/>
          <a:ln w="9525">
            <a:solidFill>
              <a:srgbClr val="E2E8F0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457200" y="477774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 2 · plotly embedding</a:t>
            </a:r>
            <a:endParaRPr lang="en-US" sz="900" dirty="0"/>
          </a:p>
        </p:txBody>
      </p:sp>
      <p:sp>
        <p:nvSpPr>
          <p:cNvPr id="13" name="Text 11"/>
          <p:cNvSpPr/>
          <p:nvPr/>
        </p:nvSpPr>
        <p:spPr>
          <a:xfrm>
            <a:off x="5029200" y="477774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ggpaintr showcase · Will Ju</a:t>
            </a:r>
            <a:endParaRPr lang="en-US" sz="90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0D9488"/>
          </a:solidFill>
          <a:ln/>
        </p:spPr>
      </p:sp>
      <p:sp>
        <p:nvSpPr>
          <p:cNvPr id="3" name="Text 1"/>
          <p:cNvSpPr/>
          <p:nvPr/>
        </p:nvSpPr>
        <p:spPr>
          <a:xfrm>
            <a:off x="731520" y="164592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spc="500" kern="0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 3</a:t>
            </a:r>
            <a:endParaRPr lang="en-US" sz="1400" dirty="0"/>
          </a:p>
        </p:txBody>
      </p:sp>
      <p:sp>
        <p:nvSpPr>
          <p:cNvPr id="4" name="Text 2"/>
          <p:cNvSpPr/>
          <p:nvPr/>
        </p:nvSpPr>
        <p:spPr>
          <a:xfrm>
            <a:off x="731520" y="2011680"/>
            <a:ext cx="77724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Custom placeholders</a:t>
            </a:r>
            <a:endParaRPr lang="en-US" sz="4000" dirty="0"/>
          </a:p>
        </p:txBody>
      </p:sp>
      <p:sp>
        <p:nvSpPr>
          <p:cNvPr id="5" name="Text 3"/>
          <p:cNvSpPr/>
          <p:nvPr/>
        </p:nvSpPr>
        <p:spPr>
          <a:xfrm>
            <a:off x="731520" y="3200400"/>
            <a:ext cx="77724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i="1" dirty="0">
                <a:solidFill>
                  <a:srgbClr val="94A3B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Teach ggpaintr new keywords with build_ui + resolve_expr.</a:t>
            </a:r>
            <a:endParaRPr lang="en-US" sz="1800" dirty="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200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EXAMPLE 3.1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457200" y="59436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F172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 color placeholder with colourpicker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457200" y="1298448"/>
            <a:ext cx="548640" cy="0"/>
          </a:xfrm>
          <a:prstGeom prst="line">
            <a:avLst/>
          </a:prstGeom>
          <a:noFill/>
          <a:ln w="31750">
            <a:solidFill>
              <a:srgbClr val="0D9488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457200" y="1554480"/>
            <a:ext cx="548640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6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ptr_define_placeholder(keyword = "color", ...).</a:t>
            </a:r>
            <a:endParaRPr lang="en-US" sz="16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build_ui: colourpicker::colourInput — one widget per occurrence.</a:t>
            </a:r>
            <a:endParaRPr lang="en-US" sz="16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resolve_expr: returns the chosen hex as a quoted string literal.</a:t>
            </a:r>
            <a:endParaRPr lang="en-US" sz="16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copy_defaults templates the label; {param} interpolates fill / color.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457200" y="3520440"/>
            <a:ext cx="5486400" cy="1234440"/>
          </a:xfrm>
          <a:prstGeom prst="rect">
            <a:avLst/>
          </a:prstGeom>
          <a:solidFill>
            <a:srgbClr val="F1F5F9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94360" y="3611880"/>
            <a:ext cx="521208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1E29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color_placeholder &lt;- ptr_define_placeholder(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1E29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keyword      = "color",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1E29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build_ui     = function(id, copy, meta, context) { ... },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1E29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resolve_expr = function(value, meta, context)  { ... },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1E29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copy_defaults = list(label = "Pick {param} colour"))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5943600" y="914400"/>
            <a:ext cx="2743200" cy="1188720"/>
          </a:xfrm>
          <a:prstGeom prst="rect">
            <a:avLst/>
          </a:prstGeom>
          <a:solidFill>
            <a:srgbClr val="F8FAFC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5943600" y="914400"/>
            <a:ext cx="73152" cy="1188720"/>
          </a:xfrm>
          <a:prstGeom prst="rect">
            <a:avLst/>
          </a:prstGeom>
          <a:solidFill>
            <a:srgbClr val="0D9488"/>
          </a:solidFill>
          <a:ln/>
        </p:spPr>
      </p:sp>
      <p:sp>
        <p:nvSpPr>
          <p:cNvPr id="10" name="Text 8"/>
          <p:cNvSpPr/>
          <p:nvPr/>
        </p:nvSpPr>
        <p:spPr>
          <a:xfrm>
            <a:off x="6126480" y="1005840"/>
            <a:ext cx="24688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200" kern="0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SOURCE CHUNK</a:t>
            </a:r>
            <a:endParaRPr lang="en-US" sz="900" dirty="0"/>
          </a:p>
        </p:txBody>
      </p:sp>
      <p:sp>
        <p:nvSpPr>
          <p:cNvPr id="11" name="Text 9"/>
          <p:cNvSpPr/>
          <p:nvPr/>
        </p:nvSpPr>
        <p:spPr>
          <a:xfrm>
            <a:off x="6126480" y="1234440"/>
            <a:ext cx="24688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F172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color-placeholder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6126480" y="1600200"/>
            <a:ext cx="24688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Line </a:t>
            </a:r>
            <a:pPr indent="0" marL="0">
              <a:buNone/>
            </a:pPr>
            <a:r>
              <a:rPr lang="en-US" sz="1100" b="1" dirty="0">
                <a:solidFill>
                  <a:srgbClr val="1E29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578</a:t>
            </a:r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·  </a:t>
            </a:r>
            <a:pPr indent="0" marL="0">
              <a:buNone/>
            </a:pPr>
            <a:r>
              <a:rPr lang="en-US" sz="1000" b="1" u="sng" dirty="0">
                <a:solidFill>
                  <a:srgbClr val="0F766E"/>
                </a:solidFill>
                <a:latin typeface="Calibri" pitchFamily="34" charset="0"/>
                <a:ea typeface="Calibri" pitchFamily="34" charset="-122"/>
                <a:cs typeface="Calibri" pitchFamily="34" charset="-120"/>
                <a:hlinkClick r:id="rId1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open demo.Rmd ›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457200" y="4732020"/>
            <a:ext cx="8229600" cy="0"/>
          </a:xfrm>
          <a:prstGeom prst="line">
            <a:avLst/>
          </a:prstGeom>
          <a:noFill/>
          <a:ln w="9525">
            <a:solidFill>
              <a:srgbClr val="E2E8F0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457200" y="477774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 3 · example 3.1</a:t>
            </a:r>
            <a:endParaRPr lang="en-US" sz="900" dirty="0"/>
          </a:p>
        </p:txBody>
      </p:sp>
      <p:sp>
        <p:nvSpPr>
          <p:cNvPr id="15" name="Text 13"/>
          <p:cNvSpPr/>
          <p:nvPr/>
        </p:nvSpPr>
        <p:spPr>
          <a:xfrm>
            <a:off x="5029200" y="477774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ggpaintr showcase · Will Ju</a:t>
            </a:r>
            <a:endParaRPr lang="en-US" sz="900" dirty="0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200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EXAMPLE 3.2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457200" y="59436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F172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 date placeholder with param-aware copy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457200" y="1298448"/>
            <a:ext cx="548640" cy="0"/>
          </a:xfrm>
          <a:prstGeom prst="line">
            <a:avLst/>
          </a:prstGeom>
          <a:noFill/>
          <a:ln w="31750">
            <a:solidFill>
              <a:srgbClr val="0D9488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457200" y="1554480"/>
            <a:ext cx="548640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6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shiny::dateInput as the widget, as.Date("...") in generated code.</a:t>
            </a:r>
            <a:endParaRPr lang="en-US" sz="16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ptr_merge_ui_text layers: defaults → params → layers (most specific wins).</a:t>
            </a:r>
            <a:endParaRPr lang="en-US" sz="16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Same mechanism that drives built-in placeholders — nothing special.</a:t>
            </a:r>
            <a:endParaRPr lang="en-US" sz="16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Useful anywhere xintercept, vlines, or date filters are natural.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457200" y="3520440"/>
            <a:ext cx="5486400" cy="1280160"/>
          </a:xfrm>
          <a:prstGeom prst="rect">
            <a:avLst/>
          </a:prstGeom>
          <a:solidFill>
            <a:srgbClr val="F1F5F9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94360" y="3611880"/>
            <a:ext cx="521208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1E29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date_ui_text &lt;- ptr_merge_ui_text(list(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1E29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defaults = list(date = list(label = "Pick any date")),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1E29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params   = list(xintercept = list(date = list(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1E29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    label = "Reference date"))),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1E29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layers   = list(geom_vline = list(date = list(xintercept =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1E29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    list(help = "Cut-off for the vertical guide."))))),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1E29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placeholders = date_placeholders)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5943600" y="914400"/>
            <a:ext cx="2743200" cy="1188720"/>
          </a:xfrm>
          <a:prstGeom prst="rect">
            <a:avLst/>
          </a:prstGeom>
          <a:solidFill>
            <a:srgbClr val="F8FAFC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5943600" y="914400"/>
            <a:ext cx="73152" cy="1188720"/>
          </a:xfrm>
          <a:prstGeom prst="rect">
            <a:avLst/>
          </a:prstGeom>
          <a:solidFill>
            <a:srgbClr val="0D9488"/>
          </a:solidFill>
          <a:ln/>
        </p:spPr>
      </p:sp>
      <p:sp>
        <p:nvSpPr>
          <p:cNvPr id="10" name="Text 8"/>
          <p:cNvSpPr/>
          <p:nvPr/>
        </p:nvSpPr>
        <p:spPr>
          <a:xfrm>
            <a:off x="6126480" y="1005840"/>
            <a:ext cx="24688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200" kern="0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SOURCE CHUNK</a:t>
            </a:r>
            <a:endParaRPr lang="en-US" sz="900" dirty="0"/>
          </a:p>
        </p:txBody>
      </p:sp>
      <p:sp>
        <p:nvSpPr>
          <p:cNvPr id="11" name="Text 9"/>
          <p:cNvSpPr/>
          <p:nvPr/>
        </p:nvSpPr>
        <p:spPr>
          <a:xfrm>
            <a:off x="6126480" y="1234440"/>
            <a:ext cx="24688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F172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date-placeholder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6126480" y="1600200"/>
            <a:ext cx="24688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Line </a:t>
            </a:r>
            <a:pPr indent="0" marL="0">
              <a:buNone/>
            </a:pPr>
            <a:r>
              <a:rPr lang="en-US" sz="1100" b="1" dirty="0">
                <a:solidFill>
                  <a:srgbClr val="1E29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631</a:t>
            </a:r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·  </a:t>
            </a:r>
            <a:pPr indent="0" marL="0">
              <a:buNone/>
            </a:pPr>
            <a:r>
              <a:rPr lang="en-US" sz="1000" b="1" u="sng" dirty="0">
                <a:solidFill>
                  <a:srgbClr val="0F766E"/>
                </a:solidFill>
                <a:latin typeface="Calibri" pitchFamily="34" charset="0"/>
                <a:ea typeface="Calibri" pitchFamily="34" charset="-122"/>
                <a:cs typeface="Calibri" pitchFamily="34" charset="-120"/>
                <a:hlinkClick r:id="rId1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open demo.Rmd ›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457200" y="4732020"/>
            <a:ext cx="8229600" cy="0"/>
          </a:xfrm>
          <a:prstGeom prst="line">
            <a:avLst/>
          </a:prstGeom>
          <a:noFill/>
          <a:ln w="9525">
            <a:solidFill>
              <a:srgbClr val="E2E8F0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457200" y="477774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 3 · example 3.2</a:t>
            </a:r>
            <a:endParaRPr lang="en-US" sz="900" dirty="0"/>
          </a:p>
        </p:txBody>
      </p:sp>
      <p:sp>
        <p:nvSpPr>
          <p:cNvPr id="15" name="Text 13"/>
          <p:cNvSpPr/>
          <p:nvPr/>
        </p:nvSpPr>
        <p:spPr>
          <a:xfrm>
            <a:off x="5029200" y="477774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ggpaintr showcase · Will Ju</a:t>
            </a:r>
            <a:endParaRPr lang="en-US" sz="900" dirty="0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0D9488"/>
          </a:solidFill>
          <a:ln/>
        </p:spPr>
      </p:sp>
      <p:sp>
        <p:nvSpPr>
          <p:cNvPr id="3" name="Text 1"/>
          <p:cNvSpPr/>
          <p:nvPr/>
        </p:nvSpPr>
        <p:spPr>
          <a:xfrm>
            <a:off x="731520" y="64008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500" kern="0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WRAP-UP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731520" y="960120"/>
            <a:ext cx="77724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The through-line</a:t>
            </a:r>
            <a:endParaRPr lang="en-US" sz="3400" dirty="0"/>
          </a:p>
        </p:txBody>
      </p:sp>
      <p:sp>
        <p:nvSpPr>
          <p:cNvPr id="5" name="Shape 3"/>
          <p:cNvSpPr/>
          <p:nvPr/>
        </p:nvSpPr>
        <p:spPr>
          <a:xfrm>
            <a:off x="731520" y="2103120"/>
            <a:ext cx="3931920" cy="1051560"/>
          </a:xfrm>
          <a:prstGeom prst="rect">
            <a:avLst/>
          </a:prstGeom>
          <a:solidFill>
            <a:srgbClr val="1E293B"/>
          </a:solidFill>
          <a:ln w="6350">
            <a:solidFill>
              <a:srgbClr val="0D9488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731520" y="2103120"/>
            <a:ext cx="73152" cy="1051560"/>
          </a:xfrm>
          <a:prstGeom prst="rect">
            <a:avLst/>
          </a:prstGeom>
          <a:solidFill>
            <a:srgbClr val="0D9488"/>
          </a:solidFill>
          <a:ln/>
        </p:spPr>
      </p:sp>
      <p:sp>
        <p:nvSpPr>
          <p:cNvPr id="7" name="Text 5"/>
          <p:cNvSpPr/>
          <p:nvPr/>
        </p:nvSpPr>
        <p:spPr>
          <a:xfrm>
            <a:off x="960120" y="2240280"/>
            <a:ext cx="3611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Formula first</a:t>
            </a:r>
            <a:endParaRPr lang="en-US" sz="1700" dirty="0"/>
          </a:p>
        </p:txBody>
      </p:sp>
      <p:sp>
        <p:nvSpPr>
          <p:cNvPr id="8" name="Text 6"/>
          <p:cNvSpPr/>
          <p:nvPr/>
        </p:nvSpPr>
        <p:spPr>
          <a:xfrm>
            <a:off x="960120" y="2606040"/>
            <a:ext cx="36118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string is the whole UI contract.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4846320" y="2103120"/>
            <a:ext cx="3931920" cy="1051560"/>
          </a:xfrm>
          <a:prstGeom prst="rect">
            <a:avLst/>
          </a:prstGeom>
          <a:solidFill>
            <a:srgbClr val="1E293B"/>
          </a:solidFill>
          <a:ln w="6350">
            <a:solidFill>
              <a:srgbClr val="0D9488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4846320" y="2103120"/>
            <a:ext cx="73152" cy="1051560"/>
          </a:xfrm>
          <a:prstGeom prst="rect">
            <a:avLst/>
          </a:prstGeom>
          <a:solidFill>
            <a:srgbClr val="0D9488"/>
          </a:solidFill>
          <a:ln/>
        </p:spPr>
      </p:sp>
      <p:sp>
        <p:nvSpPr>
          <p:cNvPr id="11" name="Text 9"/>
          <p:cNvSpPr/>
          <p:nvPr/>
        </p:nvSpPr>
        <p:spPr>
          <a:xfrm>
            <a:off x="5074920" y="2240280"/>
            <a:ext cx="3611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Escape hatches</a:t>
            </a:r>
            <a:endParaRPr lang="en-US" sz="1700" dirty="0"/>
          </a:p>
        </p:txBody>
      </p:sp>
      <p:sp>
        <p:nvSpPr>
          <p:cNvPr id="12" name="Text 10"/>
          <p:cNvSpPr/>
          <p:nvPr/>
        </p:nvSpPr>
        <p:spPr>
          <a:xfrm>
            <a:off x="5074920" y="2606040"/>
            <a:ext cx="36118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expr + custom placeholders cover anything ggplot.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731520" y="3337560"/>
            <a:ext cx="3931920" cy="1051560"/>
          </a:xfrm>
          <a:prstGeom prst="rect">
            <a:avLst/>
          </a:prstGeom>
          <a:solidFill>
            <a:srgbClr val="1E293B"/>
          </a:solidFill>
          <a:ln w="6350">
            <a:solidFill>
              <a:srgbClr val="0D9488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731520" y="3337560"/>
            <a:ext cx="73152" cy="1051560"/>
          </a:xfrm>
          <a:prstGeom prst="rect">
            <a:avLst/>
          </a:prstGeom>
          <a:solidFill>
            <a:srgbClr val="0D9488"/>
          </a:solidFill>
          <a:ln/>
        </p:spPr>
      </p:sp>
      <p:sp>
        <p:nvSpPr>
          <p:cNvPr id="15" name="Text 13"/>
          <p:cNvSpPr/>
          <p:nvPr/>
        </p:nvSpPr>
        <p:spPr>
          <a:xfrm>
            <a:off x="960120" y="3474720"/>
            <a:ext cx="3611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Three tiers</a:t>
            </a:r>
            <a:endParaRPr lang="en-US" sz="1700" dirty="0"/>
          </a:p>
        </p:txBody>
      </p:sp>
      <p:sp>
        <p:nvSpPr>
          <p:cNvPr id="16" name="Text 14"/>
          <p:cNvSpPr/>
          <p:nvPr/>
        </p:nvSpPr>
        <p:spPr>
          <a:xfrm>
            <a:off x="960120" y="3840480"/>
            <a:ext cx="36118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Wrapper → embed → full render-path control.</a:t>
            </a:r>
            <a:endParaRPr lang="en-US" sz="1300" dirty="0"/>
          </a:p>
        </p:txBody>
      </p:sp>
      <p:sp>
        <p:nvSpPr>
          <p:cNvPr id="17" name="Shape 15"/>
          <p:cNvSpPr/>
          <p:nvPr/>
        </p:nvSpPr>
        <p:spPr>
          <a:xfrm>
            <a:off x="4846320" y="3337560"/>
            <a:ext cx="3931920" cy="1051560"/>
          </a:xfrm>
          <a:prstGeom prst="rect">
            <a:avLst/>
          </a:prstGeom>
          <a:solidFill>
            <a:srgbClr val="1E293B"/>
          </a:solidFill>
          <a:ln w="6350">
            <a:solidFill>
              <a:srgbClr val="0D9488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4846320" y="3337560"/>
            <a:ext cx="73152" cy="1051560"/>
          </a:xfrm>
          <a:prstGeom prst="rect">
            <a:avLst/>
          </a:prstGeom>
          <a:solidFill>
            <a:srgbClr val="0D9488"/>
          </a:solidFill>
          <a:ln/>
        </p:spPr>
      </p:sp>
      <p:sp>
        <p:nvSpPr>
          <p:cNvPr id="19" name="Text 17"/>
          <p:cNvSpPr/>
          <p:nvPr/>
        </p:nvSpPr>
        <p:spPr>
          <a:xfrm>
            <a:off x="5074920" y="3474720"/>
            <a:ext cx="3611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Round-trips</a:t>
            </a:r>
            <a:endParaRPr lang="en-US" sz="1700" dirty="0"/>
          </a:p>
        </p:txBody>
      </p:sp>
      <p:sp>
        <p:nvSpPr>
          <p:cNvPr id="20" name="Text 18"/>
          <p:cNvSpPr/>
          <p:nvPr/>
        </p:nvSpPr>
        <p:spPr>
          <a:xfrm>
            <a:off x="5074920" y="3840480"/>
            <a:ext cx="36118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Plot and code pane stay in sync automatically.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731520" y="4320540"/>
            <a:ext cx="7772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i="1" dirty="0">
                <a:solidFill>
                  <a:srgbClr val="0D948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Questions?</a:t>
            </a:r>
            <a:endParaRPr lang="en-US" sz="22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23</Slides>
  <Notes>23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23</vt:i4>
      </vt:variant>
    </vt:vector>
  </HeadingPairs>
  <TitlesOfParts>
    <vt:vector size="26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  <vt:lpstr>Slide 22</vt:lpstr>
      <vt:lpstr>Slide 23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ggpaintr Showcase Demo</dc:title>
  <dc:subject>PptxGenJS Presentation</dc:subject>
  <dc:creator>Will Ju</dc:creator>
  <cp:lastModifiedBy>Will Ju</cp:lastModifiedBy>
  <cp:revision>1</cp:revision>
  <dcterms:created xsi:type="dcterms:W3CDTF">2026-04-21T03:41:26Z</dcterms:created>
  <dcterms:modified xsi:type="dcterms:W3CDTF">2026-04-21T03:41:26Z</dcterms:modified>
</cp:coreProperties>
</file>